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43"/>
  </p:notesMasterIdLst>
  <p:handoutMasterIdLst>
    <p:handoutMasterId r:id="rId44"/>
  </p:handoutMasterIdLst>
  <p:sldIdLst>
    <p:sldId id="318" r:id="rId2"/>
    <p:sldId id="256" r:id="rId3"/>
    <p:sldId id="353" r:id="rId4"/>
    <p:sldId id="320" r:id="rId5"/>
    <p:sldId id="354" r:id="rId6"/>
    <p:sldId id="377" r:id="rId7"/>
    <p:sldId id="378" r:id="rId8"/>
    <p:sldId id="275" r:id="rId9"/>
    <p:sldId id="379" r:id="rId10"/>
    <p:sldId id="380" r:id="rId11"/>
    <p:sldId id="358" r:id="rId12"/>
    <p:sldId id="381" r:id="rId13"/>
    <p:sldId id="382" r:id="rId14"/>
    <p:sldId id="383" r:id="rId15"/>
    <p:sldId id="384" r:id="rId16"/>
    <p:sldId id="356" r:id="rId17"/>
    <p:sldId id="362" r:id="rId18"/>
    <p:sldId id="329" r:id="rId19"/>
    <p:sldId id="363" r:id="rId20"/>
    <p:sldId id="348" r:id="rId21"/>
    <p:sldId id="359" r:id="rId22"/>
    <p:sldId id="364" r:id="rId23"/>
    <p:sldId id="365" r:id="rId24"/>
    <p:sldId id="366" r:id="rId25"/>
    <p:sldId id="290" r:id="rId26"/>
    <p:sldId id="301" r:id="rId27"/>
    <p:sldId id="367" r:id="rId28"/>
    <p:sldId id="349" r:id="rId29"/>
    <p:sldId id="350" r:id="rId30"/>
    <p:sldId id="372" r:id="rId31"/>
    <p:sldId id="373" r:id="rId32"/>
    <p:sldId id="374" r:id="rId33"/>
    <p:sldId id="375" r:id="rId34"/>
    <p:sldId id="376" r:id="rId35"/>
    <p:sldId id="326" r:id="rId36"/>
    <p:sldId id="368" r:id="rId37"/>
    <p:sldId id="369" r:id="rId38"/>
    <p:sldId id="370" r:id="rId39"/>
    <p:sldId id="351" r:id="rId40"/>
    <p:sldId id="371" r:id="rId41"/>
    <p:sldId id="319" r:id="rId42"/>
  </p:sldIdLst>
  <p:sldSz cx="13716000" cy="9144000"/>
  <p:notesSz cx="6997700" cy="9283700"/>
  <p:defaultTextStyle>
    <a:defPPr>
      <a:defRPr lang="en-US"/>
    </a:defPPr>
    <a:lvl1pPr algn="l" rtl="0" eaLnBrk="0" fontAlgn="base" hangingPunct="0">
      <a:spcBef>
        <a:spcPct val="0"/>
      </a:spcBef>
      <a:spcAft>
        <a:spcPct val="0"/>
      </a:spcAft>
      <a:defRPr kern="1200">
        <a:solidFill>
          <a:schemeClr val="tx1"/>
        </a:solidFill>
        <a:latin typeface="Verdana" charset="0"/>
        <a:ea typeface="ＭＳ Ｐゴシック" charset="-128"/>
        <a:cs typeface="+mn-cs"/>
      </a:defRPr>
    </a:lvl1pPr>
    <a:lvl2pPr marL="652463" indent="-195263" algn="l" rtl="0" eaLnBrk="0" fontAlgn="base" hangingPunct="0">
      <a:spcBef>
        <a:spcPct val="0"/>
      </a:spcBef>
      <a:spcAft>
        <a:spcPct val="0"/>
      </a:spcAft>
      <a:defRPr kern="1200">
        <a:solidFill>
          <a:schemeClr val="tx1"/>
        </a:solidFill>
        <a:latin typeface="Verdana" charset="0"/>
        <a:ea typeface="ＭＳ Ｐゴシック" charset="-128"/>
        <a:cs typeface="+mn-cs"/>
      </a:defRPr>
    </a:lvl2pPr>
    <a:lvl3pPr marL="1304925" indent="-390525" algn="l" rtl="0" eaLnBrk="0" fontAlgn="base" hangingPunct="0">
      <a:spcBef>
        <a:spcPct val="0"/>
      </a:spcBef>
      <a:spcAft>
        <a:spcPct val="0"/>
      </a:spcAft>
      <a:defRPr kern="1200">
        <a:solidFill>
          <a:schemeClr val="tx1"/>
        </a:solidFill>
        <a:latin typeface="Verdana" charset="0"/>
        <a:ea typeface="ＭＳ Ｐゴシック" charset="-128"/>
        <a:cs typeface="+mn-cs"/>
      </a:defRPr>
    </a:lvl3pPr>
    <a:lvl4pPr marL="1958975" indent="-587375" algn="l" rtl="0" eaLnBrk="0" fontAlgn="base" hangingPunct="0">
      <a:spcBef>
        <a:spcPct val="0"/>
      </a:spcBef>
      <a:spcAft>
        <a:spcPct val="0"/>
      </a:spcAft>
      <a:defRPr kern="1200">
        <a:solidFill>
          <a:schemeClr val="tx1"/>
        </a:solidFill>
        <a:latin typeface="Verdana" charset="0"/>
        <a:ea typeface="ＭＳ Ｐゴシック" charset="-128"/>
        <a:cs typeface="+mn-cs"/>
      </a:defRPr>
    </a:lvl4pPr>
    <a:lvl5pPr marL="2611438" indent="-782638" algn="l" rtl="0" eaLnBrk="0" fontAlgn="base" hangingPunct="0">
      <a:spcBef>
        <a:spcPct val="0"/>
      </a:spcBef>
      <a:spcAft>
        <a:spcPct val="0"/>
      </a:spcAft>
      <a:defRPr kern="1200">
        <a:solidFill>
          <a:schemeClr val="tx1"/>
        </a:solidFill>
        <a:latin typeface="Verdana" charset="0"/>
        <a:ea typeface="ＭＳ Ｐゴシック" charset="-128"/>
        <a:cs typeface="+mn-cs"/>
      </a:defRPr>
    </a:lvl5pPr>
    <a:lvl6pPr marL="2286000" algn="l" defTabSz="914400" rtl="0" eaLnBrk="1" latinLnBrk="0" hangingPunct="1">
      <a:defRPr kern="1200">
        <a:solidFill>
          <a:schemeClr val="tx1"/>
        </a:solidFill>
        <a:latin typeface="Verdana" charset="0"/>
        <a:ea typeface="ＭＳ Ｐゴシック" charset="-128"/>
        <a:cs typeface="+mn-cs"/>
      </a:defRPr>
    </a:lvl6pPr>
    <a:lvl7pPr marL="2743200" algn="l" defTabSz="914400" rtl="0" eaLnBrk="1" latinLnBrk="0" hangingPunct="1">
      <a:defRPr kern="1200">
        <a:solidFill>
          <a:schemeClr val="tx1"/>
        </a:solidFill>
        <a:latin typeface="Verdana" charset="0"/>
        <a:ea typeface="ＭＳ Ｐゴシック" charset="-128"/>
        <a:cs typeface="+mn-cs"/>
      </a:defRPr>
    </a:lvl7pPr>
    <a:lvl8pPr marL="3200400" algn="l" defTabSz="914400" rtl="0" eaLnBrk="1" latinLnBrk="0" hangingPunct="1">
      <a:defRPr kern="1200">
        <a:solidFill>
          <a:schemeClr val="tx1"/>
        </a:solidFill>
        <a:latin typeface="Verdana" charset="0"/>
        <a:ea typeface="ＭＳ Ｐゴシック" charset="-128"/>
        <a:cs typeface="+mn-cs"/>
      </a:defRPr>
    </a:lvl8pPr>
    <a:lvl9pPr marL="3657600" algn="l" defTabSz="914400" rtl="0" eaLnBrk="1" latinLnBrk="0" hangingPunct="1">
      <a:defRPr kern="1200">
        <a:solidFill>
          <a:schemeClr val="tx1"/>
        </a:solidFill>
        <a:latin typeface="Verdana" charset="0"/>
        <a:ea typeface="ＭＳ Ｐゴシック" charset="-128"/>
        <a:cs typeface="+mn-cs"/>
      </a:defRPr>
    </a:lvl9pPr>
  </p:defaultTextStyle>
  <p:extLst>
    <p:ext uri="{EFAFB233-063F-42B5-8137-9DF3F51BA10A}">
      <p15:sldGuideLst xmlns:p15="http://schemas.microsoft.com/office/powerpoint/2012/main">
        <p15:guide id="1" orient="horz" pos="1517">
          <p15:clr>
            <a:srgbClr val="A4A3A4"/>
          </p15:clr>
        </p15:guide>
        <p15:guide id="2" pos="197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71" autoAdjust="0"/>
    <p:restoredTop sz="94410" autoAdjust="0"/>
  </p:normalViewPr>
  <p:slideViewPr>
    <p:cSldViewPr snapToGrid="0">
      <p:cViewPr varScale="1">
        <p:scale>
          <a:sx n="50" d="100"/>
          <a:sy n="50" d="100"/>
        </p:scale>
        <p:origin x="29" y="317"/>
      </p:cViewPr>
      <p:guideLst>
        <p:guide orient="horz" pos="1517"/>
        <p:guide pos="19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030538" cy="463550"/>
          </a:xfrm>
          <a:prstGeom prst="rect">
            <a:avLst/>
          </a:prstGeom>
          <a:noFill/>
          <a:ln w="9525">
            <a:noFill/>
            <a:miter lim="800000"/>
            <a:headEnd/>
            <a:tailEnd/>
          </a:ln>
        </p:spPr>
        <p:txBody>
          <a:bodyPr vert="horz" wrap="none" lIns="93026" tIns="46512" rIns="93026" bIns="46512" numCol="1" anchor="ctr" anchorCtr="0" compatLnSpc="1">
            <a:prstTxWarp prst="textNoShape">
              <a:avLst/>
            </a:prstTxWarp>
          </a:bodyPr>
          <a:lstStyle>
            <a:lvl1pPr defTabSz="930275">
              <a:defRPr sz="1300">
                <a:latin typeface="Helvetica" charset="0"/>
                <a:cs typeface="ＭＳ Ｐゴシック" charset="-128"/>
              </a:defRPr>
            </a:lvl1pPr>
          </a:lstStyle>
          <a:p>
            <a:pPr>
              <a:defRPr/>
            </a:pPr>
            <a:endParaRPr lang="en-US"/>
          </a:p>
        </p:txBody>
      </p:sp>
      <p:sp>
        <p:nvSpPr>
          <p:cNvPr id="74755" name="Rectangle 3"/>
          <p:cNvSpPr>
            <a:spLocks noGrp="1" noChangeArrowheads="1"/>
          </p:cNvSpPr>
          <p:nvPr>
            <p:ph type="dt" sz="quarter" idx="1"/>
          </p:nvPr>
        </p:nvSpPr>
        <p:spPr bwMode="auto">
          <a:xfrm>
            <a:off x="3967163" y="0"/>
            <a:ext cx="3030537" cy="463550"/>
          </a:xfrm>
          <a:prstGeom prst="rect">
            <a:avLst/>
          </a:prstGeom>
          <a:noFill/>
          <a:ln w="9525">
            <a:noFill/>
            <a:miter lim="800000"/>
            <a:headEnd/>
            <a:tailEnd/>
          </a:ln>
        </p:spPr>
        <p:txBody>
          <a:bodyPr vert="horz" wrap="none" lIns="93026" tIns="46512" rIns="93026" bIns="46512" numCol="1" anchor="ctr" anchorCtr="0" compatLnSpc="1">
            <a:prstTxWarp prst="textNoShape">
              <a:avLst/>
            </a:prstTxWarp>
          </a:bodyPr>
          <a:lstStyle>
            <a:lvl1pPr algn="r" defTabSz="930275">
              <a:defRPr sz="1300">
                <a:latin typeface="Helvetica" charset="0"/>
                <a:cs typeface="ＭＳ Ｐゴシック" charset="-128"/>
              </a:defRPr>
            </a:lvl1pPr>
          </a:lstStyle>
          <a:p>
            <a:pPr>
              <a:defRPr/>
            </a:pPr>
            <a:endParaRPr lang="en-US"/>
          </a:p>
        </p:txBody>
      </p:sp>
      <p:sp>
        <p:nvSpPr>
          <p:cNvPr id="74756" name="Rectangle 4"/>
          <p:cNvSpPr>
            <a:spLocks noGrp="1" noChangeArrowheads="1"/>
          </p:cNvSpPr>
          <p:nvPr>
            <p:ph type="ftr" sz="quarter" idx="2"/>
          </p:nvPr>
        </p:nvSpPr>
        <p:spPr bwMode="auto">
          <a:xfrm>
            <a:off x="0" y="8820150"/>
            <a:ext cx="3030538" cy="463550"/>
          </a:xfrm>
          <a:prstGeom prst="rect">
            <a:avLst/>
          </a:prstGeom>
          <a:noFill/>
          <a:ln w="9525">
            <a:noFill/>
            <a:miter lim="800000"/>
            <a:headEnd/>
            <a:tailEnd/>
          </a:ln>
        </p:spPr>
        <p:txBody>
          <a:bodyPr vert="horz" wrap="none" lIns="93026" tIns="46512" rIns="93026" bIns="46512" numCol="1" anchor="b" anchorCtr="0" compatLnSpc="1">
            <a:prstTxWarp prst="textNoShape">
              <a:avLst/>
            </a:prstTxWarp>
          </a:bodyPr>
          <a:lstStyle>
            <a:lvl1pPr defTabSz="930275">
              <a:defRPr sz="1300">
                <a:latin typeface="Helvetica" charset="0"/>
                <a:cs typeface="ＭＳ Ｐゴシック" charset="-128"/>
              </a:defRPr>
            </a:lvl1pPr>
          </a:lstStyle>
          <a:p>
            <a:pPr>
              <a:defRPr/>
            </a:pPr>
            <a:endParaRPr lang="en-US"/>
          </a:p>
        </p:txBody>
      </p:sp>
      <p:sp>
        <p:nvSpPr>
          <p:cNvPr id="74757" name="Rectangle 5"/>
          <p:cNvSpPr>
            <a:spLocks noGrp="1" noChangeArrowheads="1"/>
          </p:cNvSpPr>
          <p:nvPr>
            <p:ph type="sldNum" sz="quarter" idx="3"/>
          </p:nvPr>
        </p:nvSpPr>
        <p:spPr bwMode="auto">
          <a:xfrm>
            <a:off x="3967163" y="8820150"/>
            <a:ext cx="3030537" cy="463550"/>
          </a:xfrm>
          <a:prstGeom prst="rect">
            <a:avLst/>
          </a:prstGeom>
          <a:noFill/>
          <a:ln w="9525">
            <a:noFill/>
            <a:miter lim="800000"/>
            <a:headEnd/>
            <a:tailEnd/>
          </a:ln>
        </p:spPr>
        <p:txBody>
          <a:bodyPr vert="horz" wrap="none" lIns="93026" tIns="46512" rIns="93026" bIns="46512" numCol="1" anchor="b" anchorCtr="0" compatLnSpc="1">
            <a:prstTxWarp prst="textNoShape">
              <a:avLst/>
            </a:prstTxWarp>
          </a:bodyPr>
          <a:lstStyle>
            <a:lvl1pPr algn="r" defTabSz="930275">
              <a:defRPr sz="1300">
                <a:latin typeface="Helvetica" charset="0"/>
              </a:defRPr>
            </a:lvl1pPr>
          </a:lstStyle>
          <a:p>
            <a:fld id="{54492EB3-0312-4C94-ACA2-C5355F3C7664}" type="slidenum">
              <a:rPr lang="en-US"/>
              <a:pPr/>
              <a:t>‹#›</a:t>
            </a:fld>
            <a:endParaRPr lang="en-US"/>
          </a:p>
        </p:txBody>
      </p:sp>
    </p:spTree>
    <p:extLst>
      <p:ext uri="{BB962C8B-B14F-4D97-AF65-F5344CB8AC3E}">
        <p14:creationId xmlns:p14="http://schemas.microsoft.com/office/powerpoint/2010/main" val="4171555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0538" cy="463550"/>
          </a:xfrm>
          <a:prstGeom prst="rect">
            <a:avLst/>
          </a:prstGeom>
          <a:noFill/>
          <a:ln w="9525">
            <a:noFill/>
            <a:miter lim="800000"/>
            <a:headEnd/>
            <a:tailEnd/>
          </a:ln>
        </p:spPr>
        <p:txBody>
          <a:bodyPr vert="horz" wrap="none" lIns="93017" tIns="46509" rIns="93017" bIns="46509" numCol="1" anchor="ctr" anchorCtr="0" compatLnSpc="1">
            <a:prstTxWarp prst="textNoShape">
              <a:avLst/>
            </a:prstTxWarp>
          </a:bodyPr>
          <a:lstStyle>
            <a:lvl1pPr defTabSz="930275">
              <a:defRPr sz="1300">
                <a:latin typeface="Times New Roman" charset="0"/>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967163" y="0"/>
            <a:ext cx="3030537" cy="463550"/>
          </a:xfrm>
          <a:prstGeom prst="rect">
            <a:avLst/>
          </a:prstGeom>
          <a:noFill/>
          <a:ln w="9525">
            <a:noFill/>
            <a:miter lim="800000"/>
            <a:headEnd/>
            <a:tailEnd/>
          </a:ln>
        </p:spPr>
        <p:txBody>
          <a:bodyPr vert="horz" wrap="none" lIns="93017" tIns="46509" rIns="93017" bIns="46509" numCol="1" anchor="ctr" anchorCtr="0" compatLnSpc="1">
            <a:prstTxWarp prst="textNoShape">
              <a:avLst/>
            </a:prstTxWarp>
          </a:bodyPr>
          <a:lstStyle>
            <a:lvl1pPr algn="r" defTabSz="930275">
              <a:defRPr sz="1300">
                <a:latin typeface="Times New Roman" charset="0"/>
                <a:cs typeface="ＭＳ Ｐゴシック" charset="-128"/>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890588" y="696913"/>
            <a:ext cx="5219700" cy="3481387"/>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p:spPr>
        <p:txBody>
          <a:bodyPr vert="horz" wrap="none" lIns="93017" tIns="46509" rIns="93017" bIns="46509"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0538" cy="463550"/>
          </a:xfrm>
          <a:prstGeom prst="rect">
            <a:avLst/>
          </a:prstGeom>
          <a:noFill/>
          <a:ln w="9525">
            <a:noFill/>
            <a:miter lim="800000"/>
            <a:headEnd/>
            <a:tailEnd/>
          </a:ln>
        </p:spPr>
        <p:txBody>
          <a:bodyPr vert="horz" wrap="none" lIns="93017" tIns="46509" rIns="93017" bIns="46509" numCol="1" anchor="b" anchorCtr="0" compatLnSpc="1">
            <a:prstTxWarp prst="textNoShape">
              <a:avLst/>
            </a:prstTxWarp>
          </a:bodyPr>
          <a:lstStyle>
            <a:lvl1pPr defTabSz="930275">
              <a:defRPr sz="1300">
                <a:latin typeface="Times New Roman" charset="0"/>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967163" y="8820150"/>
            <a:ext cx="3030537" cy="463550"/>
          </a:xfrm>
          <a:prstGeom prst="rect">
            <a:avLst/>
          </a:prstGeom>
          <a:noFill/>
          <a:ln w="9525">
            <a:noFill/>
            <a:miter lim="800000"/>
            <a:headEnd/>
            <a:tailEnd/>
          </a:ln>
        </p:spPr>
        <p:txBody>
          <a:bodyPr vert="horz" wrap="none" lIns="93017" tIns="46509" rIns="93017" bIns="46509" numCol="1" anchor="b" anchorCtr="0" compatLnSpc="1">
            <a:prstTxWarp prst="textNoShape">
              <a:avLst/>
            </a:prstTxWarp>
          </a:bodyPr>
          <a:lstStyle>
            <a:lvl1pPr algn="r" defTabSz="930275">
              <a:defRPr sz="1300">
                <a:latin typeface="Times New Roman" charset="0"/>
              </a:defRPr>
            </a:lvl1pPr>
          </a:lstStyle>
          <a:p>
            <a:fld id="{0C9E32B4-B3B1-4225-B1EE-1A9B01E99D40}" type="slidenum">
              <a:rPr lang="en-US"/>
              <a:pPr/>
              <a:t>‹#›</a:t>
            </a:fld>
            <a:endParaRPr lang="en-US"/>
          </a:p>
        </p:txBody>
      </p:sp>
    </p:spTree>
    <p:extLst>
      <p:ext uri="{BB962C8B-B14F-4D97-AF65-F5344CB8AC3E}">
        <p14:creationId xmlns:p14="http://schemas.microsoft.com/office/powerpoint/2010/main" val="20108166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700" kern="1200">
        <a:solidFill>
          <a:schemeClr val="tx1"/>
        </a:solidFill>
        <a:latin typeface="Times New Roman" charset="0"/>
        <a:ea typeface="ＭＳ Ｐゴシック" charset="-128"/>
        <a:cs typeface="ＭＳ Ｐゴシック" charset="-128"/>
      </a:defRPr>
    </a:lvl1pPr>
    <a:lvl2pPr marL="652463"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2pPr>
    <a:lvl3pPr marL="1304925"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3pPr>
    <a:lvl4pPr marL="1958975"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4pPr>
    <a:lvl5pPr marL="2611438"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5pPr>
    <a:lvl6pPr marL="3265551" algn="l" defTabSz="653110" rtl="0" eaLnBrk="1" latinLnBrk="0" hangingPunct="1">
      <a:defRPr sz="1700" kern="1200">
        <a:solidFill>
          <a:schemeClr val="tx1"/>
        </a:solidFill>
        <a:latin typeface="+mn-lt"/>
        <a:ea typeface="+mn-ea"/>
        <a:cs typeface="+mn-cs"/>
      </a:defRPr>
    </a:lvl6pPr>
    <a:lvl7pPr marL="3918661" algn="l" defTabSz="653110" rtl="0" eaLnBrk="1" latinLnBrk="0" hangingPunct="1">
      <a:defRPr sz="1700" kern="1200">
        <a:solidFill>
          <a:schemeClr val="tx1"/>
        </a:solidFill>
        <a:latin typeface="+mn-lt"/>
        <a:ea typeface="+mn-ea"/>
        <a:cs typeface="+mn-cs"/>
      </a:defRPr>
    </a:lvl7pPr>
    <a:lvl8pPr marL="4571771" algn="l" defTabSz="653110" rtl="0" eaLnBrk="1" latinLnBrk="0" hangingPunct="1">
      <a:defRPr sz="1700" kern="1200">
        <a:solidFill>
          <a:schemeClr val="tx1"/>
        </a:solidFill>
        <a:latin typeface="+mn-lt"/>
        <a:ea typeface="+mn-ea"/>
        <a:cs typeface="+mn-cs"/>
      </a:defRPr>
    </a:lvl8pPr>
    <a:lvl9pPr marL="5224882" algn="l" defTabSz="65311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5B534060-CEFA-42F5-8F8B-10AE1E493BE7}" type="slidenum">
              <a:rPr lang="en-US"/>
              <a:pPr/>
              <a:t>1</a:t>
            </a:fld>
            <a:endParaRPr 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452317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C8DC76A4-7CFC-45C3-A87F-C66B869671CB}" type="slidenum">
              <a:rPr lang="en-US"/>
              <a:pPr/>
              <a:t>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247087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316198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A9FC8D5B-B812-431D-AADB-7243F62EBF8D}" type="slidenum">
              <a:rPr lang="en-US"/>
              <a:pPr/>
              <a:t>4</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352248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8589F9A3-0743-40BF-9A58-A77045B77C28}" type="slidenum">
              <a:rPr lang="en-US"/>
              <a:pPr/>
              <a:t>5</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380991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xmlns=""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xmlns=""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xmlns=""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2910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xmlns=""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xmlns=""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xmlns=""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41749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CACA0314-E5D9-4509-9AF9-A7EA88DFAD0A}" type="slidenum">
              <a:rPr lang="en-US"/>
              <a:pPr/>
              <a:t>8</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062567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xmlns=""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xmlns=""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6521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97084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xmlns=""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xmlns=""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xmlns=""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20844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xmlns=""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xmlns=""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xmlns=""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79108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67653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5BAE5287-434B-4E28-B04B-E31B51CD754A}" type="slidenum">
              <a:rPr lang="en-US"/>
              <a:pPr/>
              <a:t>18</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92904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E1D8BEFD-DE3A-422F-AFAA-E26CE7473F29}" type="slidenum">
              <a:rPr lang="en-US"/>
              <a:pPr/>
              <a:t>20</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675580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2101275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28B320BB-398A-4A04-8BB1-17855C21961F}" type="slidenum">
              <a:rPr lang="en-US"/>
              <a:pPr/>
              <a:t>25</a:t>
            </a:fld>
            <a:endParaRPr lang="en-US"/>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196701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F0738B46-12BD-4446-A6F7-9C9FE987E152}" type="slidenum">
              <a:rPr lang="en-US"/>
              <a:pPr/>
              <a:t>26</a:t>
            </a:fld>
            <a:endParaRPr lang="en-US"/>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939090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48A283A2-B722-46C9-A49B-A21ACB7FC6DB}" type="slidenum">
              <a:rPr lang="en-US"/>
              <a:pPr/>
              <a:t>28</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924632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49C75CE7-7258-47DB-AB98-A3B39CE9A9AA}" type="slidenum">
              <a:rPr lang="en-US"/>
              <a:pPr/>
              <a:t>29</a:t>
            </a:fld>
            <a:endParaRPr 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01564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193A140B-5356-4FFE-B84E-2EB291CADAF0}" type="slidenum">
              <a:rPr lang="en-US"/>
              <a:pPr/>
              <a:t>30</a:t>
            </a:fld>
            <a:endParaRPr lang="en-US"/>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1904857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057BAA96-B9D8-43EE-AE3B-E43D2C768C1E}" type="slidenum">
              <a:rPr lang="en-US"/>
              <a:pPr/>
              <a:t>31</a:t>
            </a:fld>
            <a:endParaRPr lang="en-US"/>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067462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9FDF1F95-3677-4922-941D-521227D594D3}" type="slidenum">
              <a:rPr lang="en-US"/>
              <a:pPr/>
              <a:t>32</a:t>
            </a:fld>
            <a:endParaRPr lang="en-US"/>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9686592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AB6C00A6-5557-45CD-9256-DF811CEBED31}" type="slidenum">
              <a:rPr lang="en-US"/>
              <a:pPr/>
              <a:t>33</a:t>
            </a:fld>
            <a:endParaRPr 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978181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39160786-C6EC-46DE-BB4C-00F9336E2DF7}" type="slidenum">
              <a:rPr lang="en-US"/>
              <a:pPr/>
              <a:t>34</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867053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E5649ADA-BE74-41D7-BC32-3D75266ED622}" type="slidenum">
              <a:rPr lang="en-US"/>
              <a:pPr/>
              <a:t>35</a:t>
            </a:fld>
            <a:endParaRPr lang="en-US"/>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644159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01F9320E-0BA8-494B-A821-35288194FE29}" type="slidenum">
              <a:rPr lang="en-US"/>
              <a:pPr/>
              <a:t>39</a:t>
            </a:fld>
            <a:endParaRPr lang="en-US"/>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74713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E5365683-9F0E-4E17-8133-2421DEE06219}" type="slidenum">
              <a:rPr lang="en-US"/>
              <a:pPr/>
              <a:t>41</a:t>
            </a:fld>
            <a:endParaRPr lang="en-US"/>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9741635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298450" y="3948113"/>
            <a:ext cx="12915900" cy="268287"/>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w="9525">
              <a:noFill/>
              <a:miter lim="800000"/>
              <a:headEnd/>
              <a:tailEnd/>
            </a:ln>
            <a:effectLst/>
          </p:spPr>
          <p:txBody>
            <a:bodyPr wrap="none" anchor="ctr"/>
            <a:lstStyle/>
            <a:p>
              <a:pPr>
                <a:defRPr/>
              </a:pPr>
              <a:endParaRPr lang="en-US">
                <a:cs typeface="ＭＳ Ｐゴシック" charset="-128"/>
              </a:endParaRPr>
            </a:p>
          </p:txBody>
        </p:sp>
        <p:sp>
          <p:nvSpPr>
            <p:cNvPr id="5" name="Rectangle 5"/>
            <p:cNvSpPr>
              <a:spLocks noChangeArrowheads="1"/>
            </p:cNvSpPr>
            <p:nvPr/>
          </p:nvSpPr>
          <p:spPr bwMode="auto">
            <a:xfrm>
              <a:off x="1933" y="1865"/>
              <a:ext cx="1808" cy="127"/>
            </a:xfrm>
            <a:prstGeom prst="rect">
              <a:avLst/>
            </a:prstGeom>
            <a:solidFill>
              <a:srgbClr val="99CCFF"/>
            </a:solidFill>
            <a:ln w="9525">
              <a:noFill/>
              <a:miter lim="800000"/>
              <a:headEnd/>
              <a:tailEnd/>
            </a:ln>
            <a:effectLst/>
          </p:spPr>
          <p:txBody>
            <a:bodyPr wrap="none" anchor="ctr"/>
            <a:lstStyle/>
            <a:p>
              <a:pPr>
                <a:defRPr/>
              </a:pPr>
              <a:endParaRPr lang="en-US">
                <a:cs typeface="ＭＳ Ｐゴシック" charset="-128"/>
              </a:endParaRPr>
            </a:p>
          </p:txBody>
        </p:sp>
        <p:sp>
          <p:nvSpPr>
            <p:cNvPr id="6" name="Rectangle 6"/>
            <p:cNvSpPr>
              <a:spLocks noChangeArrowheads="1"/>
            </p:cNvSpPr>
            <p:nvPr/>
          </p:nvSpPr>
          <p:spPr bwMode="auto">
            <a:xfrm>
              <a:off x="3741" y="1865"/>
              <a:ext cx="1808" cy="127"/>
            </a:xfrm>
            <a:prstGeom prst="rect">
              <a:avLst/>
            </a:prstGeom>
            <a:solidFill>
              <a:srgbClr val="336699"/>
            </a:solidFill>
            <a:ln w="9525">
              <a:noFill/>
              <a:miter lim="800000"/>
              <a:headEnd/>
              <a:tailEnd/>
            </a:ln>
            <a:effectLst/>
          </p:spPr>
          <p:txBody>
            <a:bodyPr wrap="none" anchor="ctr"/>
            <a:lstStyle/>
            <a:p>
              <a:pPr>
                <a:defRPr/>
              </a:pPr>
              <a:endParaRPr lang="en-US">
                <a:cs typeface="ＭＳ Ｐゴシック" charset="-128"/>
              </a:endParaRPr>
            </a:p>
          </p:txBody>
        </p:sp>
      </p:grpSp>
      <p:pic>
        <p:nvPicPr>
          <p:cNvPr id="9" name="Picture 9" descr="dino_4"/>
          <p:cNvPicPr>
            <a:picLocks noChangeAspect="1" noChangeArrowheads="1"/>
          </p:cNvPicPr>
          <p:nvPr/>
        </p:nvPicPr>
        <p:blipFill>
          <a:blip r:embed="rId2"/>
          <a:srcRect/>
          <a:stretch>
            <a:fillRect/>
          </a:stretch>
        </p:blipFill>
        <p:spPr bwMode="auto">
          <a:xfrm>
            <a:off x="5041900" y="5543550"/>
            <a:ext cx="3092450" cy="2125663"/>
          </a:xfrm>
          <a:prstGeom prst="rect">
            <a:avLst/>
          </a:prstGeom>
          <a:noFill/>
          <a:ln w="76200">
            <a:solidFill>
              <a:srgbClr val="336699"/>
            </a:solidFill>
            <a:miter lim="800000"/>
            <a:headEnd/>
            <a:tailEnd/>
          </a:ln>
        </p:spPr>
      </p:pic>
      <p:sp>
        <p:nvSpPr>
          <p:cNvPr id="10" name="Rectangle 10"/>
          <p:cNvSpPr>
            <a:spLocks noChangeArrowheads="1"/>
          </p:cNvSpPr>
          <p:nvPr/>
        </p:nvSpPr>
        <p:spPr bwMode="auto">
          <a:xfrm>
            <a:off x="4837113" y="5354638"/>
            <a:ext cx="3505200" cy="2517775"/>
          </a:xfrm>
          <a:prstGeom prst="rect">
            <a:avLst/>
          </a:prstGeom>
          <a:noFill/>
          <a:ln w="57150" cmpd="thinThick">
            <a:solidFill>
              <a:srgbClr val="66CCFF"/>
            </a:solidFill>
            <a:miter lim="800000"/>
            <a:headEnd/>
            <a:tailEnd/>
          </a:ln>
          <a:effectLst/>
        </p:spPr>
        <p:txBody>
          <a:bodyPr wrap="none" lIns="130622" tIns="65311" rIns="130622" bIns="65311" anchor="ctr"/>
          <a:lstStyle/>
          <a:p>
            <a:pPr>
              <a:defRPr/>
            </a:pPr>
            <a:endParaRPr lang="en-US">
              <a:cs typeface="ＭＳ Ｐゴシック" charset="-128"/>
            </a:endParaRPr>
          </a:p>
        </p:txBody>
      </p:sp>
      <p:sp>
        <p:nvSpPr>
          <p:cNvPr id="214018" name="Rectangle 2"/>
          <p:cNvSpPr>
            <a:spLocks noGrp="1" noChangeArrowheads="1"/>
          </p:cNvSpPr>
          <p:nvPr>
            <p:ph type="ctrTitle"/>
          </p:nvPr>
        </p:nvSpPr>
        <p:spPr>
          <a:xfrm>
            <a:off x="1028700" y="914400"/>
            <a:ext cx="11658600" cy="2836333"/>
          </a:xfrm>
        </p:spPr>
        <p:txBody>
          <a:bodyPr/>
          <a:lstStyle>
            <a:lvl1pPr>
              <a:defRPr sz="6100"/>
            </a:lvl1pPr>
          </a:lstStyle>
          <a:p>
            <a:r>
              <a:rPr lang="en-US"/>
              <a:t>Click to edit Master title style</a:t>
            </a:r>
          </a:p>
        </p:txBody>
      </p:sp>
      <p:sp>
        <p:nvSpPr>
          <p:cNvPr id="12" name="Text Box 10"/>
          <p:cNvSpPr txBox="1">
            <a:spLocks noChangeArrowheads="1"/>
          </p:cNvSpPr>
          <p:nvPr userDrawn="1"/>
        </p:nvSpPr>
        <p:spPr bwMode="auto">
          <a:xfrm>
            <a:off x="9734550" y="8783638"/>
            <a:ext cx="4070350" cy="347341"/>
          </a:xfrm>
          <a:prstGeom prst="rect">
            <a:avLst/>
          </a:prstGeom>
          <a:noFill/>
          <a:ln w="9525">
            <a:noFill/>
            <a:miter lim="800000"/>
            <a:headEnd/>
            <a:tailEnd/>
          </a:ln>
          <a:effectLst/>
        </p:spPr>
        <p:txBody>
          <a:bodyPr lIns="130622" tIns="65311" rIns="130622" bIns="65311">
            <a:spAutoFit/>
          </a:bodyPr>
          <a:lstStyle/>
          <a:p>
            <a:pPr algn="r">
              <a:spcBef>
                <a:spcPct val="50000"/>
              </a:spcBef>
              <a:defRPr/>
            </a:pPr>
            <a:r>
              <a:rPr lang="tr-TR" sz="1400" b="1" dirty="0" err="1" smtClean="0">
                <a:solidFill>
                  <a:srgbClr val="006699"/>
                </a:solidFill>
                <a:latin typeface="Helvetica" charset="0"/>
              </a:rPr>
              <a:t>Doç.Dr</a:t>
            </a:r>
            <a:r>
              <a:rPr lang="tr-TR" sz="1400" b="1" dirty="0" smtClean="0">
                <a:solidFill>
                  <a:srgbClr val="006699"/>
                </a:solidFill>
                <a:latin typeface="Helvetica" charset="0"/>
              </a:rPr>
              <a:t>. Ahmet </a:t>
            </a:r>
            <a:r>
              <a:rPr lang="tr-TR" sz="1400" b="1" baseline="0" dirty="0" smtClean="0">
                <a:solidFill>
                  <a:srgbClr val="006699"/>
                </a:solidFill>
                <a:latin typeface="Helvetica" charset="0"/>
              </a:rPr>
              <a:t> Zengin</a:t>
            </a:r>
            <a:endParaRPr lang="en-US" sz="1400" b="1" dirty="0">
              <a:solidFill>
                <a:srgbClr val="006699"/>
              </a:solidFill>
              <a:latin typeface="Helvetica" charset="0"/>
            </a:endParaRPr>
          </a:p>
        </p:txBody>
      </p:sp>
      <p:sp>
        <p:nvSpPr>
          <p:cNvPr id="13" name="Text Box 11"/>
          <p:cNvSpPr txBox="1">
            <a:spLocks noChangeArrowheads="1"/>
          </p:cNvSpPr>
          <p:nvPr userDrawn="1"/>
        </p:nvSpPr>
        <p:spPr bwMode="auto">
          <a:xfrm>
            <a:off x="279400" y="8802688"/>
            <a:ext cx="2584943" cy="347341"/>
          </a:xfrm>
          <a:prstGeom prst="rect">
            <a:avLst/>
          </a:prstGeom>
          <a:noFill/>
          <a:ln w="9525">
            <a:noFill/>
            <a:miter lim="800000"/>
            <a:headEnd/>
            <a:tailEnd/>
          </a:ln>
          <a:effectLst/>
        </p:spPr>
        <p:txBody>
          <a:bodyPr wrap="none" lIns="130622" tIns="65311" rIns="130622" bIns="65311">
            <a:spAutoFit/>
          </a:bodyPr>
          <a:lstStyle/>
          <a:p>
            <a:pPr>
              <a:spcBef>
                <a:spcPct val="50000"/>
              </a:spcBef>
              <a:defRPr/>
            </a:pPr>
            <a:r>
              <a:rPr lang="tr-TR" sz="1400" b="1" dirty="0" smtClean="0">
                <a:solidFill>
                  <a:srgbClr val="006699"/>
                </a:solidFill>
                <a:latin typeface="Helvetica" charset="0"/>
              </a:rPr>
              <a:t>BSM 309 İşletim Sistemleri </a:t>
            </a:r>
            <a:endParaRPr lang="en-US" sz="1400" b="1" dirty="0">
              <a:solidFill>
                <a:srgbClr val="006699"/>
              </a:solidFill>
              <a:latin typeface="Helvetica"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3470" y="5875867"/>
            <a:ext cx="11658600" cy="1816100"/>
          </a:xfrm>
        </p:spPr>
        <p:txBody>
          <a:bodyPr anchor="t"/>
          <a:lstStyle>
            <a:lvl1pPr algn="l">
              <a:defRPr sz="5700" b="1" cap="all"/>
            </a:lvl1pPr>
          </a:lstStyle>
          <a:p>
            <a:r>
              <a:rPr lang="en-US" smtClean="0"/>
              <a:t>Click to edit Master title style</a:t>
            </a:r>
            <a:endParaRPr lang="en-US"/>
          </a:p>
        </p:txBody>
      </p:sp>
      <p:sp>
        <p:nvSpPr>
          <p:cNvPr id="3" name="Text Placeholder 2"/>
          <p:cNvSpPr>
            <a:spLocks noGrp="1"/>
          </p:cNvSpPr>
          <p:nvPr>
            <p:ph type="body" idx="1"/>
          </p:nvPr>
        </p:nvSpPr>
        <p:spPr>
          <a:xfrm>
            <a:off x="1083470" y="3875618"/>
            <a:ext cx="11658600" cy="2000249"/>
          </a:xfrm>
        </p:spPr>
        <p:txBody>
          <a:bodyPr anchor="b"/>
          <a:lstStyle>
            <a:lvl1pPr marL="0" indent="0">
              <a:buNone/>
              <a:defRPr sz="2900"/>
            </a:lvl1pPr>
            <a:lvl2pPr marL="653110" indent="0">
              <a:buNone/>
              <a:defRPr sz="2600"/>
            </a:lvl2pPr>
            <a:lvl3pPr marL="1306220" indent="0">
              <a:buNone/>
              <a:defRPr sz="2300"/>
            </a:lvl3pPr>
            <a:lvl4pPr marL="1959331" indent="0">
              <a:buNone/>
              <a:defRPr sz="2000"/>
            </a:lvl4pPr>
            <a:lvl5pPr marL="2612441" indent="0">
              <a:buNone/>
              <a:defRPr sz="2000"/>
            </a:lvl5pPr>
            <a:lvl6pPr marL="3265551" indent="0">
              <a:buNone/>
              <a:defRPr sz="2000"/>
            </a:lvl6pPr>
            <a:lvl7pPr marL="3918661" indent="0">
              <a:buNone/>
              <a:defRPr sz="2000"/>
            </a:lvl7pPr>
            <a:lvl8pPr marL="4571771" indent="0">
              <a:buNone/>
              <a:defRPr sz="2000"/>
            </a:lvl8pPr>
            <a:lvl9pPr marL="5224882" indent="0">
              <a:buNone/>
              <a:defRPr sz="20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09675" y="1644651"/>
            <a:ext cx="6057900" cy="6040967"/>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7496175" y="1644651"/>
            <a:ext cx="6057900" cy="6040967"/>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800" y="366184"/>
            <a:ext cx="12344400" cy="1524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2046817"/>
            <a:ext cx="6060282" cy="853016"/>
          </a:xfrm>
        </p:spPr>
        <p:txBody>
          <a:bodyPr anchor="b"/>
          <a:lstStyle>
            <a:lvl1pPr marL="0" indent="0">
              <a:buNone/>
              <a:defRPr sz="3400" b="1"/>
            </a:lvl1pPr>
            <a:lvl2pPr marL="653110" indent="0">
              <a:buNone/>
              <a:defRPr sz="2900" b="1"/>
            </a:lvl2pPr>
            <a:lvl3pPr marL="1306220" indent="0">
              <a:buNone/>
              <a:defRPr sz="2600" b="1"/>
            </a:lvl3pPr>
            <a:lvl4pPr marL="1959331" indent="0">
              <a:buNone/>
              <a:defRPr sz="2300" b="1"/>
            </a:lvl4pPr>
            <a:lvl5pPr marL="2612441" indent="0">
              <a:buNone/>
              <a:defRPr sz="2300" b="1"/>
            </a:lvl5pPr>
            <a:lvl6pPr marL="3265551" indent="0">
              <a:buNone/>
              <a:defRPr sz="2300" b="1"/>
            </a:lvl6pPr>
            <a:lvl7pPr marL="3918661" indent="0">
              <a:buNone/>
              <a:defRPr sz="2300" b="1"/>
            </a:lvl7pPr>
            <a:lvl8pPr marL="4571771" indent="0">
              <a:buNone/>
              <a:defRPr sz="2300" b="1"/>
            </a:lvl8pPr>
            <a:lvl9pPr marL="5224882" indent="0">
              <a:buNone/>
              <a:defRPr sz="2300" b="1"/>
            </a:lvl9pPr>
          </a:lstStyle>
          <a:p>
            <a:pPr lvl="0"/>
            <a:r>
              <a:rPr lang="en-US" smtClean="0"/>
              <a:t>Click to edit Master text styles</a:t>
            </a:r>
          </a:p>
        </p:txBody>
      </p:sp>
      <p:sp>
        <p:nvSpPr>
          <p:cNvPr id="4" name="Content Placeholder 3"/>
          <p:cNvSpPr>
            <a:spLocks noGrp="1"/>
          </p:cNvSpPr>
          <p:nvPr>
            <p:ph sz="half" idx="2"/>
          </p:nvPr>
        </p:nvSpPr>
        <p:spPr>
          <a:xfrm>
            <a:off x="685800" y="2899833"/>
            <a:ext cx="6060282" cy="5268384"/>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967538" y="2046817"/>
            <a:ext cx="6062663" cy="853016"/>
          </a:xfrm>
        </p:spPr>
        <p:txBody>
          <a:bodyPr anchor="b"/>
          <a:lstStyle>
            <a:lvl1pPr marL="0" indent="0">
              <a:buNone/>
              <a:defRPr sz="3400" b="1"/>
            </a:lvl1pPr>
            <a:lvl2pPr marL="653110" indent="0">
              <a:buNone/>
              <a:defRPr sz="2900" b="1"/>
            </a:lvl2pPr>
            <a:lvl3pPr marL="1306220" indent="0">
              <a:buNone/>
              <a:defRPr sz="2600" b="1"/>
            </a:lvl3pPr>
            <a:lvl4pPr marL="1959331" indent="0">
              <a:buNone/>
              <a:defRPr sz="2300" b="1"/>
            </a:lvl4pPr>
            <a:lvl5pPr marL="2612441" indent="0">
              <a:buNone/>
              <a:defRPr sz="2300" b="1"/>
            </a:lvl5pPr>
            <a:lvl6pPr marL="3265551" indent="0">
              <a:buNone/>
              <a:defRPr sz="2300" b="1"/>
            </a:lvl6pPr>
            <a:lvl7pPr marL="3918661" indent="0">
              <a:buNone/>
              <a:defRPr sz="2300" b="1"/>
            </a:lvl7pPr>
            <a:lvl8pPr marL="4571771" indent="0">
              <a:buNone/>
              <a:defRPr sz="2300" b="1"/>
            </a:lvl8pPr>
            <a:lvl9pPr marL="5224882" indent="0">
              <a:buNone/>
              <a:defRPr sz="2300" b="1"/>
            </a:lvl9pPr>
          </a:lstStyle>
          <a:p>
            <a:pPr lvl="0"/>
            <a:r>
              <a:rPr lang="en-US" smtClean="0"/>
              <a:t>Click to edit Master text styles</a:t>
            </a:r>
          </a:p>
        </p:txBody>
      </p:sp>
      <p:sp>
        <p:nvSpPr>
          <p:cNvPr id="6" name="Content Placeholder 5"/>
          <p:cNvSpPr>
            <a:spLocks noGrp="1"/>
          </p:cNvSpPr>
          <p:nvPr>
            <p:ph sz="quarter" idx="4"/>
          </p:nvPr>
        </p:nvSpPr>
        <p:spPr>
          <a:xfrm>
            <a:off x="6967538" y="2899833"/>
            <a:ext cx="6062663" cy="5268384"/>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364067"/>
            <a:ext cx="4512470" cy="1549400"/>
          </a:xfrm>
        </p:spPr>
        <p:txBody>
          <a:bodyPr/>
          <a:lstStyle>
            <a:lvl1pPr algn="l">
              <a:defRPr sz="2900" b="1"/>
            </a:lvl1pPr>
          </a:lstStyle>
          <a:p>
            <a:r>
              <a:rPr lang="en-US" smtClean="0"/>
              <a:t>Click to edit Master title style</a:t>
            </a:r>
            <a:endParaRPr lang="en-US"/>
          </a:p>
        </p:txBody>
      </p:sp>
      <p:sp>
        <p:nvSpPr>
          <p:cNvPr id="3" name="Content Placeholder 2"/>
          <p:cNvSpPr>
            <a:spLocks noGrp="1"/>
          </p:cNvSpPr>
          <p:nvPr>
            <p:ph idx="1"/>
          </p:nvPr>
        </p:nvSpPr>
        <p:spPr>
          <a:xfrm>
            <a:off x="5362575" y="364067"/>
            <a:ext cx="7667625" cy="7804151"/>
          </a:xfrm>
        </p:spPr>
        <p:txBody>
          <a:bodyPr/>
          <a:lstStyle>
            <a:lvl1pPr>
              <a:defRPr sz="4600"/>
            </a:lvl1pPr>
            <a:lvl2pPr>
              <a:defRPr sz="4000"/>
            </a:lvl2pPr>
            <a:lvl3pPr>
              <a:defRPr sz="3400"/>
            </a:lvl3pPr>
            <a:lvl4pPr>
              <a:defRPr sz="2900"/>
            </a:lvl4pPr>
            <a:lvl5pPr>
              <a:defRPr sz="2900"/>
            </a:lvl5pPr>
            <a:lvl6pPr>
              <a:defRPr sz="2900"/>
            </a:lvl6pPr>
            <a:lvl7pPr>
              <a:defRPr sz="2900"/>
            </a:lvl7pPr>
            <a:lvl8pPr>
              <a:defRPr sz="2900"/>
            </a:lvl8pPr>
            <a:lvl9pPr>
              <a:defRPr sz="2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1" y="1913467"/>
            <a:ext cx="4512470" cy="6254751"/>
          </a:xfrm>
        </p:spPr>
        <p:txBody>
          <a:bodyPr/>
          <a:lstStyle>
            <a:lvl1pPr marL="0" indent="0">
              <a:buNone/>
              <a:defRPr sz="2000"/>
            </a:lvl1pPr>
            <a:lvl2pPr marL="653110" indent="0">
              <a:buNone/>
              <a:defRPr sz="1700"/>
            </a:lvl2pPr>
            <a:lvl3pPr marL="1306220" indent="0">
              <a:buNone/>
              <a:defRPr sz="1400"/>
            </a:lvl3pPr>
            <a:lvl4pPr marL="1959331" indent="0">
              <a:buNone/>
              <a:defRPr sz="1300"/>
            </a:lvl4pPr>
            <a:lvl5pPr marL="2612441" indent="0">
              <a:buNone/>
              <a:defRPr sz="1300"/>
            </a:lvl5pPr>
            <a:lvl6pPr marL="3265551" indent="0">
              <a:buNone/>
              <a:defRPr sz="1300"/>
            </a:lvl6pPr>
            <a:lvl7pPr marL="3918661" indent="0">
              <a:buNone/>
              <a:defRPr sz="1300"/>
            </a:lvl7pPr>
            <a:lvl8pPr marL="4571771" indent="0">
              <a:buNone/>
              <a:defRPr sz="1300"/>
            </a:lvl8pPr>
            <a:lvl9pPr marL="5224882" indent="0">
              <a:buNone/>
              <a:defRPr sz="13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8432" y="6400800"/>
            <a:ext cx="8229600" cy="755651"/>
          </a:xfrm>
        </p:spPr>
        <p:txBody>
          <a:bodyPr/>
          <a:lstStyle>
            <a:lvl1pPr algn="l">
              <a:defRPr sz="2900" b="1"/>
            </a:lvl1pPr>
          </a:lstStyle>
          <a:p>
            <a:r>
              <a:rPr lang="en-US" smtClean="0"/>
              <a:t>Click to edit Master title style</a:t>
            </a:r>
            <a:endParaRPr lang="en-US"/>
          </a:p>
        </p:txBody>
      </p:sp>
      <p:sp>
        <p:nvSpPr>
          <p:cNvPr id="3" name="Picture Placeholder 2"/>
          <p:cNvSpPr>
            <a:spLocks noGrp="1"/>
          </p:cNvSpPr>
          <p:nvPr>
            <p:ph type="pic" idx="1"/>
          </p:nvPr>
        </p:nvSpPr>
        <p:spPr>
          <a:xfrm>
            <a:off x="2688432" y="817033"/>
            <a:ext cx="8229600" cy="5486400"/>
          </a:xfrm>
        </p:spPr>
        <p:txBody>
          <a:bodyPr/>
          <a:lstStyle>
            <a:lvl1pPr marL="0" indent="0">
              <a:buNone/>
              <a:defRPr sz="4600"/>
            </a:lvl1pPr>
            <a:lvl2pPr marL="653110" indent="0">
              <a:buNone/>
              <a:defRPr sz="4000"/>
            </a:lvl2pPr>
            <a:lvl3pPr marL="1306220" indent="0">
              <a:buNone/>
              <a:defRPr sz="3400"/>
            </a:lvl3pPr>
            <a:lvl4pPr marL="1959331" indent="0">
              <a:buNone/>
              <a:defRPr sz="2900"/>
            </a:lvl4pPr>
            <a:lvl5pPr marL="2612441" indent="0">
              <a:buNone/>
              <a:defRPr sz="2900"/>
            </a:lvl5pPr>
            <a:lvl6pPr marL="3265551" indent="0">
              <a:buNone/>
              <a:defRPr sz="2900"/>
            </a:lvl6pPr>
            <a:lvl7pPr marL="3918661" indent="0">
              <a:buNone/>
              <a:defRPr sz="2900"/>
            </a:lvl7pPr>
            <a:lvl8pPr marL="4571771" indent="0">
              <a:buNone/>
              <a:defRPr sz="2900"/>
            </a:lvl8pPr>
            <a:lvl9pPr marL="5224882" indent="0">
              <a:buNone/>
              <a:defRPr sz="2900"/>
            </a:lvl9pPr>
          </a:lstStyle>
          <a:p>
            <a:pPr lvl="0"/>
            <a:endParaRPr lang="en-US" noProof="0" smtClean="0"/>
          </a:p>
        </p:txBody>
      </p:sp>
      <p:sp>
        <p:nvSpPr>
          <p:cNvPr id="4" name="Text Placeholder 3"/>
          <p:cNvSpPr>
            <a:spLocks noGrp="1"/>
          </p:cNvSpPr>
          <p:nvPr>
            <p:ph type="body" sz="half" idx="2"/>
          </p:nvPr>
        </p:nvSpPr>
        <p:spPr>
          <a:xfrm>
            <a:off x="2688432" y="7156451"/>
            <a:ext cx="8229600" cy="1073149"/>
          </a:xfrm>
        </p:spPr>
        <p:txBody>
          <a:bodyPr/>
          <a:lstStyle>
            <a:lvl1pPr marL="0" indent="0">
              <a:buNone/>
              <a:defRPr sz="2000"/>
            </a:lvl1pPr>
            <a:lvl2pPr marL="653110" indent="0">
              <a:buNone/>
              <a:defRPr sz="1700"/>
            </a:lvl2pPr>
            <a:lvl3pPr marL="1306220" indent="0">
              <a:buNone/>
              <a:defRPr sz="1400"/>
            </a:lvl3pPr>
            <a:lvl4pPr marL="1959331" indent="0">
              <a:buNone/>
              <a:defRPr sz="1300"/>
            </a:lvl4pPr>
            <a:lvl5pPr marL="2612441" indent="0">
              <a:buNone/>
              <a:defRPr sz="1300"/>
            </a:lvl5pPr>
            <a:lvl6pPr marL="3265551" indent="0">
              <a:buNone/>
              <a:defRPr sz="1300"/>
            </a:lvl6pPr>
            <a:lvl7pPr marL="3918661" indent="0">
              <a:buNone/>
              <a:defRPr sz="1300"/>
            </a:lvl7pPr>
            <a:lvl8pPr marL="4571771" indent="0">
              <a:buNone/>
              <a:defRPr sz="1300"/>
            </a:lvl8pPr>
            <a:lvl9pPr marL="5224882" indent="0">
              <a:buNone/>
              <a:defRPr sz="13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37007" y="370417"/>
            <a:ext cx="3217068" cy="7315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70417"/>
            <a:ext cx="9422607" cy="7315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3"/>
          <a:srcRect/>
          <a:stretch>
            <a:fillRect/>
          </a:stretch>
        </p:blipFill>
        <p:spPr bwMode="auto">
          <a:xfrm>
            <a:off x="428625" y="0"/>
            <a:ext cx="1793875" cy="1211263"/>
          </a:xfrm>
          <a:prstGeom prst="rect">
            <a:avLst/>
          </a:prstGeom>
          <a:noFill/>
          <a:ln w="9525">
            <a:noFill/>
            <a:miter lim="800000"/>
            <a:headEnd/>
            <a:tailEnd/>
          </a:ln>
        </p:spPr>
      </p:pic>
      <p:sp>
        <p:nvSpPr>
          <p:cNvPr id="1027" name="Rectangle 3"/>
          <p:cNvSpPr>
            <a:spLocks noGrp="1" noChangeArrowheads="1"/>
          </p:cNvSpPr>
          <p:nvPr>
            <p:ph type="title"/>
          </p:nvPr>
        </p:nvSpPr>
        <p:spPr bwMode="auto">
          <a:xfrm>
            <a:off x="685800" y="369888"/>
            <a:ext cx="12344400" cy="768350"/>
          </a:xfrm>
          <a:prstGeom prst="rect">
            <a:avLst/>
          </a:prstGeom>
          <a:noFill/>
          <a:ln w="9525">
            <a:noFill/>
            <a:miter lim="800000"/>
            <a:headEnd/>
            <a:tailEnd/>
          </a:ln>
        </p:spPr>
        <p:txBody>
          <a:bodyPr vert="horz" wrap="square" lIns="130622" tIns="65311" rIns="130622" bIns="65311" numCol="1" anchor="b" anchorCtr="0" compatLnSpc="1">
            <a:prstTxWarp prst="textNoShape">
              <a:avLst/>
            </a:prstTxWarp>
          </a:bodyPr>
          <a:lstStyle/>
          <a:p>
            <a:pPr lvl="0"/>
            <a:r>
              <a:rPr lang="en-US" smtClean="0"/>
              <a:t>Click to edit Master title style</a:t>
            </a:r>
          </a:p>
        </p:txBody>
      </p:sp>
      <p:sp>
        <p:nvSpPr>
          <p:cNvPr id="1028" name="Rectangle 4"/>
          <p:cNvSpPr>
            <a:spLocks noGrp="1" noChangeArrowheads="1"/>
          </p:cNvSpPr>
          <p:nvPr>
            <p:ph type="body" idx="1"/>
          </p:nvPr>
        </p:nvSpPr>
        <p:spPr bwMode="auto">
          <a:xfrm>
            <a:off x="1209675" y="1644650"/>
            <a:ext cx="12344400" cy="6040438"/>
          </a:xfrm>
          <a:prstGeom prst="rect">
            <a:avLst/>
          </a:prstGeom>
          <a:noFill/>
          <a:ln w="9525">
            <a:noFill/>
            <a:miter lim="800000"/>
            <a:headEnd/>
            <a:tailEnd/>
          </a:ln>
        </p:spPr>
        <p:txBody>
          <a:bodyPr vert="horz" wrap="square" lIns="130622" tIns="65311" rIns="130622" bIns="6531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2997" name="Rectangle 5"/>
          <p:cNvSpPr>
            <a:spLocks noChangeArrowheads="1"/>
          </p:cNvSpPr>
          <p:nvPr/>
        </p:nvSpPr>
        <p:spPr bwMode="auto">
          <a:xfrm>
            <a:off x="0" y="0"/>
            <a:ext cx="342900" cy="3048000"/>
          </a:xfrm>
          <a:prstGeom prst="rect">
            <a:avLst/>
          </a:prstGeom>
          <a:solidFill>
            <a:srgbClr val="336699"/>
          </a:solidFill>
          <a:ln w="9525">
            <a:noFill/>
            <a:miter lim="800000"/>
            <a:headEnd/>
            <a:tailEnd/>
          </a:ln>
          <a:effectLst/>
        </p:spPr>
        <p:txBody>
          <a:bodyPr wrap="none" lIns="130622" tIns="65311" rIns="130622" bIns="65311" anchor="ctr"/>
          <a:lstStyle/>
          <a:p>
            <a:pPr algn="ctr" eaLnBrk="1" hangingPunct="1">
              <a:defRPr/>
            </a:pPr>
            <a:endParaRPr lang="en-US" sz="3400" dirty="0">
              <a:latin typeface="Times New Roman" charset="0"/>
              <a:cs typeface="ＭＳ Ｐゴシック" charset="-128"/>
            </a:endParaRPr>
          </a:p>
        </p:txBody>
      </p:sp>
      <p:sp>
        <p:nvSpPr>
          <p:cNvPr id="212998" name="Line 6"/>
          <p:cNvSpPr>
            <a:spLocks noChangeShapeType="1"/>
          </p:cNvSpPr>
          <p:nvPr/>
        </p:nvSpPr>
        <p:spPr bwMode="auto">
          <a:xfrm>
            <a:off x="685800" y="1147763"/>
            <a:ext cx="12115800" cy="0"/>
          </a:xfrm>
          <a:prstGeom prst="line">
            <a:avLst/>
          </a:prstGeom>
          <a:noFill/>
          <a:ln w="19050">
            <a:solidFill>
              <a:srgbClr val="336699"/>
            </a:solidFill>
            <a:round/>
            <a:headEnd/>
            <a:tailEnd/>
          </a:ln>
          <a:effectLst/>
        </p:spPr>
        <p:txBody>
          <a:bodyPr lIns="130622" tIns="65311" rIns="130622" bIns="65311"/>
          <a:lstStyle/>
          <a:p>
            <a:pPr>
              <a:defRPr/>
            </a:pPr>
            <a:endParaRPr lang="en-US">
              <a:ea typeface="+mn-ea"/>
            </a:endParaRPr>
          </a:p>
        </p:txBody>
      </p:sp>
      <p:sp>
        <p:nvSpPr>
          <p:cNvPr id="212999" name="Rectangle 7"/>
          <p:cNvSpPr>
            <a:spLocks noChangeArrowheads="1"/>
          </p:cNvSpPr>
          <p:nvPr/>
        </p:nvSpPr>
        <p:spPr bwMode="auto">
          <a:xfrm>
            <a:off x="0" y="3048000"/>
            <a:ext cx="342900" cy="3048000"/>
          </a:xfrm>
          <a:prstGeom prst="rect">
            <a:avLst/>
          </a:prstGeom>
          <a:solidFill>
            <a:srgbClr val="99CCFF"/>
          </a:solidFill>
          <a:ln w="9525">
            <a:noFill/>
            <a:miter lim="800000"/>
            <a:headEnd/>
            <a:tailEnd/>
          </a:ln>
          <a:effectLst/>
        </p:spPr>
        <p:txBody>
          <a:bodyPr wrap="none" lIns="130622" tIns="65311" rIns="130622" bIns="65311" anchor="ctr"/>
          <a:lstStyle/>
          <a:p>
            <a:pPr algn="ctr" eaLnBrk="1" hangingPunct="1">
              <a:defRPr/>
            </a:pPr>
            <a:endParaRPr lang="en-US" sz="3400" dirty="0">
              <a:latin typeface="Times New Roman" charset="0"/>
              <a:cs typeface="ＭＳ Ｐゴシック" charset="-128"/>
            </a:endParaRPr>
          </a:p>
        </p:txBody>
      </p:sp>
      <p:sp>
        <p:nvSpPr>
          <p:cNvPr id="213000" name="Rectangle 8"/>
          <p:cNvSpPr>
            <a:spLocks noChangeArrowheads="1"/>
          </p:cNvSpPr>
          <p:nvPr/>
        </p:nvSpPr>
        <p:spPr bwMode="auto">
          <a:xfrm>
            <a:off x="0" y="6096000"/>
            <a:ext cx="342900" cy="3048000"/>
          </a:xfrm>
          <a:prstGeom prst="rect">
            <a:avLst/>
          </a:prstGeom>
          <a:solidFill>
            <a:srgbClr val="336699"/>
          </a:solidFill>
          <a:ln w="9525">
            <a:noFill/>
            <a:miter lim="800000"/>
            <a:headEnd/>
            <a:tailEnd/>
          </a:ln>
          <a:effectLst/>
        </p:spPr>
        <p:txBody>
          <a:bodyPr wrap="none" lIns="130622" tIns="65311" rIns="130622" bIns="65311" anchor="ctr"/>
          <a:lstStyle/>
          <a:p>
            <a:pPr algn="ctr" eaLnBrk="1" hangingPunct="1">
              <a:defRPr/>
            </a:pPr>
            <a:endParaRPr lang="en-US" sz="3400" dirty="0">
              <a:latin typeface="Times New Roman" charset="0"/>
              <a:cs typeface="ＭＳ Ｐゴシック" charset="-128"/>
            </a:endParaRPr>
          </a:p>
        </p:txBody>
      </p:sp>
      <p:sp>
        <p:nvSpPr>
          <p:cNvPr id="213001" name="Text Box 9"/>
          <p:cNvSpPr txBox="1">
            <a:spLocks noChangeArrowheads="1"/>
          </p:cNvSpPr>
          <p:nvPr/>
        </p:nvSpPr>
        <p:spPr bwMode="auto">
          <a:xfrm>
            <a:off x="6397625" y="8818563"/>
            <a:ext cx="644525" cy="346075"/>
          </a:xfrm>
          <a:prstGeom prst="rect">
            <a:avLst/>
          </a:prstGeom>
          <a:noFill/>
          <a:ln w="9525">
            <a:noFill/>
            <a:miter lim="800000"/>
            <a:headEnd/>
            <a:tailEnd/>
          </a:ln>
          <a:effectLst/>
        </p:spPr>
        <p:txBody>
          <a:bodyPr wrap="none" lIns="130622" tIns="65311" rIns="130622" bIns="65311">
            <a:spAutoFit/>
          </a:bodyPr>
          <a:lstStyle/>
          <a:p>
            <a:pPr algn="ctr">
              <a:spcBef>
                <a:spcPct val="50000"/>
              </a:spcBef>
            </a:pPr>
            <a:r>
              <a:rPr lang="en-US" sz="1400" b="1">
                <a:solidFill>
                  <a:srgbClr val="006699"/>
                </a:solidFill>
                <a:latin typeface="Helvetica" charset="0"/>
              </a:rPr>
              <a:t>5.</a:t>
            </a:r>
            <a:fld id="{2A4C16DD-49BF-48F5-8211-DA6BB90C5110}" type="slidenum">
              <a:rPr lang="en-US" sz="1400" b="1">
                <a:solidFill>
                  <a:srgbClr val="006699"/>
                </a:solidFill>
                <a:latin typeface="Helvetica" charset="0"/>
              </a:rPr>
              <a:pPr algn="ctr">
                <a:spcBef>
                  <a:spcPct val="50000"/>
                </a:spcBef>
              </a:pPr>
              <a:t>‹#›</a:t>
            </a:fld>
            <a:endParaRPr lang="en-US" sz="1400" b="1">
              <a:solidFill>
                <a:srgbClr val="006699"/>
              </a:solidFill>
              <a:latin typeface="Helvetica" charset="0"/>
            </a:endParaRPr>
          </a:p>
        </p:txBody>
      </p:sp>
      <p:pic>
        <p:nvPicPr>
          <p:cNvPr id="1036" name="Picture 12" descr="dino_6"/>
          <p:cNvPicPr>
            <a:picLocks noChangeAspect="1" noChangeArrowheads="1"/>
          </p:cNvPicPr>
          <p:nvPr/>
        </p:nvPicPr>
        <p:blipFill>
          <a:blip r:embed="rId14"/>
          <a:srcRect/>
          <a:stretch>
            <a:fillRect/>
          </a:stretch>
        </p:blipFill>
        <p:spPr bwMode="auto">
          <a:xfrm>
            <a:off x="11661775" y="7799388"/>
            <a:ext cx="1925638" cy="1057275"/>
          </a:xfrm>
          <a:prstGeom prst="rect">
            <a:avLst/>
          </a:prstGeom>
          <a:noFill/>
          <a:ln w="9525">
            <a:noFill/>
            <a:miter lim="800000"/>
            <a:headEnd/>
            <a:tailEnd/>
          </a:ln>
        </p:spPr>
      </p:pic>
      <p:sp>
        <p:nvSpPr>
          <p:cNvPr id="14" name="Text Box 10"/>
          <p:cNvSpPr txBox="1">
            <a:spLocks noChangeArrowheads="1"/>
          </p:cNvSpPr>
          <p:nvPr userDrawn="1"/>
        </p:nvSpPr>
        <p:spPr bwMode="auto">
          <a:xfrm>
            <a:off x="9734550" y="8783638"/>
            <a:ext cx="4070350" cy="347341"/>
          </a:xfrm>
          <a:prstGeom prst="rect">
            <a:avLst/>
          </a:prstGeom>
          <a:noFill/>
          <a:ln w="9525">
            <a:noFill/>
            <a:miter lim="800000"/>
            <a:headEnd/>
            <a:tailEnd/>
          </a:ln>
          <a:effectLst/>
        </p:spPr>
        <p:txBody>
          <a:bodyPr lIns="130622" tIns="65311" rIns="130622" bIns="65311">
            <a:spAutoFit/>
          </a:bodyPr>
          <a:lstStyle/>
          <a:p>
            <a:pPr algn="r">
              <a:spcBef>
                <a:spcPct val="50000"/>
              </a:spcBef>
              <a:defRPr/>
            </a:pPr>
            <a:r>
              <a:rPr lang="tr-TR" sz="1400" b="1" dirty="0" err="1" smtClean="0">
                <a:solidFill>
                  <a:srgbClr val="006699"/>
                </a:solidFill>
                <a:latin typeface="Helvetica" charset="0"/>
              </a:rPr>
              <a:t>Doç.Dr</a:t>
            </a:r>
            <a:r>
              <a:rPr lang="tr-TR" sz="1400" b="1" dirty="0" smtClean="0">
                <a:solidFill>
                  <a:srgbClr val="006699"/>
                </a:solidFill>
                <a:latin typeface="Helvetica" charset="0"/>
              </a:rPr>
              <a:t>. Ahmet </a:t>
            </a:r>
            <a:r>
              <a:rPr lang="tr-TR" sz="1400" b="1" baseline="0" dirty="0" smtClean="0">
                <a:solidFill>
                  <a:srgbClr val="006699"/>
                </a:solidFill>
                <a:latin typeface="Helvetica" charset="0"/>
              </a:rPr>
              <a:t> Zengin</a:t>
            </a:r>
            <a:endParaRPr lang="en-US" sz="1400" b="1" dirty="0">
              <a:solidFill>
                <a:srgbClr val="006699"/>
              </a:solidFill>
              <a:latin typeface="Helvetica" charset="0"/>
            </a:endParaRPr>
          </a:p>
        </p:txBody>
      </p:sp>
      <p:sp>
        <p:nvSpPr>
          <p:cNvPr id="15" name="Text Box 11"/>
          <p:cNvSpPr txBox="1">
            <a:spLocks noChangeArrowheads="1"/>
          </p:cNvSpPr>
          <p:nvPr userDrawn="1"/>
        </p:nvSpPr>
        <p:spPr bwMode="auto">
          <a:xfrm>
            <a:off x="279400" y="8802688"/>
            <a:ext cx="2584943" cy="347341"/>
          </a:xfrm>
          <a:prstGeom prst="rect">
            <a:avLst/>
          </a:prstGeom>
          <a:noFill/>
          <a:ln w="9525">
            <a:noFill/>
            <a:miter lim="800000"/>
            <a:headEnd/>
            <a:tailEnd/>
          </a:ln>
          <a:effectLst/>
        </p:spPr>
        <p:txBody>
          <a:bodyPr wrap="none" lIns="130622" tIns="65311" rIns="130622" bIns="65311">
            <a:spAutoFit/>
          </a:bodyPr>
          <a:lstStyle/>
          <a:p>
            <a:pPr>
              <a:spcBef>
                <a:spcPct val="50000"/>
              </a:spcBef>
              <a:defRPr/>
            </a:pPr>
            <a:r>
              <a:rPr lang="tr-TR" sz="1400" b="1" dirty="0" smtClean="0">
                <a:solidFill>
                  <a:srgbClr val="006699"/>
                </a:solidFill>
                <a:latin typeface="Helvetica" charset="0"/>
              </a:rPr>
              <a:t>BSM 309 İşletim Sistemleri </a:t>
            </a:r>
            <a:endParaRPr lang="en-US" sz="1400" b="1" dirty="0">
              <a:solidFill>
                <a:srgbClr val="006699"/>
              </a:solidFill>
              <a:latin typeface="Helvetica" charset="0"/>
            </a:endParaRPr>
          </a:p>
        </p:txBody>
      </p:sp>
    </p:spTree>
  </p:cSld>
  <p:clrMap bg1="lt1" tx1="dk1" bg2="lt2" tx2="dk2" accent1="accent1" accent2="accent2" accent3="accent3" accent4="accent4" accent5="accent5" accent6="accent6" hlink="hlink" folHlink="folHlink"/>
  <p:sldLayoutIdLst>
    <p:sldLayoutId id="2147483755"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iming>
    <p:tnLst>
      <p:par>
        <p:cTn id="1" dur="indefinite" restart="never" nodeType="tmRoot"/>
      </p:par>
    </p:tnLst>
  </p:timing>
  <p:txStyles>
    <p:titleStyle>
      <a:lvl1pPr algn="ctr" rtl="0" eaLnBrk="0" fontAlgn="base" hangingPunct="0">
        <a:spcBef>
          <a:spcPct val="0"/>
        </a:spcBef>
        <a:spcAft>
          <a:spcPct val="0"/>
        </a:spcAft>
        <a:defRPr sz="4600" b="1">
          <a:solidFill>
            <a:srgbClr val="006699"/>
          </a:solidFill>
          <a:latin typeface="+mj-lt"/>
          <a:ea typeface="ＭＳ Ｐゴシック" charset="-128"/>
          <a:cs typeface="ＭＳ Ｐゴシック" charset="-128"/>
        </a:defRPr>
      </a:lvl1pPr>
      <a:lvl2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2pPr>
      <a:lvl3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3pPr>
      <a:lvl4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4pPr>
      <a:lvl5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5pPr>
      <a:lvl6pPr marL="653110" algn="ctr" rtl="0" fontAlgn="base">
        <a:spcBef>
          <a:spcPct val="0"/>
        </a:spcBef>
        <a:spcAft>
          <a:spcPct val="0"/>
        </a:spcAft>
        <a:defRPr sz="4600" b="1">
          <a:solidFill>
            <a:srgbClr val="006699"/>
          </a:solidFill>
          <a:latin typeface="Arial" charset="0"/>
        </a:defRPr>
      </a:lvl6pPr>
      <a:lvl7pPr marL="1306220" algn="ctr" rtl="0" fontAlgn="base">
        <a:spcBef>
          <a:spcPct val="0"/>
        </a:spcBef>
        <a:spcAft>
          <a:spcPct val="0"/>
        </a:spcAft>
        <a:defRPr sz="4600" b="1">
          <a:solidFill>
            <a:srgbClr val="006699"/>
          </a:solidFill>
          <a:latin typeface="Arial" charset="0"/>
        </a:defRPr>
      </a:lvl7pPr>
      <a:lvl8pPr marL="1959331" algn="ctr" rtl="0" fontAlgn="base">
        <a:spcBef>
          <a:spcPct val="0"/>
        </a:spcBef>
        <a:spcAft>
          <a:spcPct val="0"/>
        </a:spcAft>
        <a:defRPr sz="4600" b="1">
          <a:solidFill>
            <a:srgbClr val="006699"/>
          </a:solidFill>
          <a:latin typeface="Arial" charset="0"/>
        </a:defRPr>
      </a:lvl8pPr>
      <a:lvl9pPr marL="2612441" algn="ctr" rtl="0" fontAlgn="base">
        <a:spcBef>
          <a:spcPct val="0"/>
        </a:spcBef>
        <a:spcAft>
          <a:spcPct val="0"/>
        </a:spcAft>
        <a:defRPr sz="4600" b="1">
          <a:solidFill>
            <a:srgbClr val="006699"/>
          </a:solidFill>
          <a:latin typeface="Arial" charset="0"/>
        </a:defRPr>
      </a:lvl9pPr>
    </p:titleStyle>
    <p:bodyStyle>
      <a:lvl1pPr marL="488950" indent="-488950" algn="l" rtl="0" eaLnBrk="0" fontAlgn="base" hangingPunct="0">
        <a:spcBef>
          <a:spcPct val="35000"/>
        </a:spcBef>
        <a:spcAft>
          <a:spcPct val="0"/>
        </a:spcAft>
        <a:buClr>
          <a:srgbClr val="993300"/>
        </a:buClr>
        <a:buSzPct val="90000"/>
        <a:buFont typeface="Monotype Sorts" charset="2"/>
        <a:buChar char="n"/>
        <a:defRPr kumimoji="1">
          <a:solidFill>
            <a:schemeClr val="tx1"/>
          </a:solidFill>
          <a:latin typeface="+mn-lt"/>
          <a:ea typeface="ＭＳ Ｐゴシック" charset="-128"/>
          <a:cs typeface="ＭＳ Ｐゴシック" charset="-128"/>
        </a:defRPr>
      </a:lvl1pPr>
      <a:lvl2pPr marL="1060450" indent="-407988" algn="l" rtl="0" eaLnBrk="0" fontAlgn="base" hangingPunct="0">
        <a:spcBef>
          <a:spcPct val="35000"/>
        </a:spcBef>
        <a:spcAft>
          <a:spcPct val="0"/>
        </a:spcAft>
        <a:buClr>
          <a:srgbClr val="CC6600"/>
        </a:buClr>
        <a:buSzPct val="80000"/>
        <a:buFont typeface="Monotype Sorts" charset="2"/>
        <a:buChar char="l"/>
        <a:defRPr kumimoji="1">
          <a:solidFill>
            <a:schemeClr val="tx1"/>
          </a:solidFill>
          <a:latin typeface="+mn-lt"/>
          <a:ea typeface="ＭＳ Ｐゴシック" charset="-128"/>
        </a:defRPr>
      </a:lvl2pPr>
      <a:lvl3pPr marL="1550988" indent="-325438" algn="l" rtl="0" eaLnBrk="0" fontAlgn="base" hangingPunct="0">
        <a:spcBef>
          <a:spcPct val="35000"/>
        </a:spcBef>
        <a:spcAft>
          <a:spcPct val="0"/>
        </a:spcAft>
        <a:buClr>
          <a:srgbClr val="009900"/>
        </a:buClr>
        <a:buSzPct val="75000"/>
        <a:buFont typeface="Webdings" charset="2"/>
        <a:buChar char="4"/>
        <a:defRPr kumimoji="1">
          <a:solidFill>
            <a:schemeClr val="tx1"/>
          </a:solidFill>
          <a:latin typeface="+mn-lt"/>
          <a:ea typeface="ＭＳ Ｐゴシック" charset="-128"/>
        </a:defRPr>
      </a:lvl3pPr>
      <a:lvl4pPr marL="2039938" indent="-325438" algn="l" rtl="0" eaLnBrk="0" fontAlgn="base" hangingPunct="0">
        <a:spcBef>
          <a:spcPct val="35000"/>
        </a:spcBef>
        <a:spcAft>
          <a:spcPct val="0"/>
        </a:spcAft>
        <a:buClr>
          <a:schemeClr val="hlink"/>
        </a:buClr>
        <a:buSzPct val="75000"/>
        <a:buChar char="–"/>
        <a:defRPr kumimoji="1">
          <a:solidFill>
            <a:schemeClr val="tx1"/>
          </a:solidFill>
          <a:latin typeface="+mn-lt"/>
          <a:ea typeface="ＭＳ Ｐゴシック" charset="-128"/>
        </a:defRPr>
      </a:lvl4pPr>
      <a:lvl5pPr marL="2530475" indent="-325438"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5pPr>
      <a:lvl6pPr marL="3183912"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3837022"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4490133"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5143243"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653110" rtl="0" eaLnBrk="1" latinLnBrk="0" hangingPunct="1">
        <a:defRPr sz="2600" kern="1200">
          <a:solidFill>
            <a:schemeClr val="tx1"/>
          </a:solidFill>
          <a:latin typeface="+mn-lt"/>
          <a:ea typeface="+mn-ea"/>
          <a:cs typeface="+mn-cs"/>
        </a:defRPr>
      </a:lvl1pPr>
      <a:lvl2pPr marL="653110" algn="l" defTabSz="653110" rtl="0" eaLnBrk="1" latinLnBrk="0" hangingPunct="1">
        <a:defRPr sz="2600" kern="1200">
          <a:solidFill>
            <a:schemeClr val="tx1"/>
          </a:solidFill>
          <a:latin typeface="+mn-lt"/>
          <a:ea typeface="+mn-ea"/>
          <a:cs typeface="+mn-cs"/>
        </a:defRPr>
      </a:lvl2pPr>
      <a:lvl3pPr marL="1306220" algn="l" defTabSz="653110" rtl="0" eaLnBrk="1" latinLnBrk="0" hangingPunct="1">
        <a:defRPr sz="2600" kern="1200">
          <a:solidFill>
            <a:schemeClr val="tx1"/>
          </a:solidFill>
          <a:latin typeface="+mn-lt"/>
          <a:ea typeface="+mn-ea"/>
          <a:cs typeface="+mn-cs"/>
        </a:defRPr>
      </a:lvl3pPr>
      <a:lvl4pPr marL="1959331" algn="l" defTabSz="653110" rtl="0" eaLnBrk="1" latinLnBrk="0" hangingPunct="1">
        <a:defRPr sz="2600" kern="1200">
          <a:solidFill>
            <a:schemeClr val="tx1"/>
          </a:solidFill>
          <a:latin typeface="+mn-lt"/>
          <a:ea typeface="+mn-ea"/>
          <a:cs typeface="+mn-cs"/>
        </a:defRPr>
      </a:lvl4pPr>
      <a:lvl5pPr marL="2612441" algn="l" defTabSz="653110" rtl="0" eaLnBrk="1" latinLnBrk="0" hangingPunct="1">
        <a:defRPr sz="2600" kern="1200">
          <a:solidFill>
            <a:schemeClr val="tx1"/>
          </a:solidFill>
          <a:latin typeface="+mn-lt"/>
          <a:ea typeface="+mn-ea"/>
          <a:cs typeface="+mn-cs"/>
        </a:defRPr>
      </a:lvl5pPr>
      <a:lvl6pPr marL="3265551" algn="l" defTabSz="653110" rtl="0" eaLnBrk="1" latinLnBrk="0" hangingPunct="1">
        <a:defRPr sz="2600" kern="1200">
          <a:solidFill>
            <a:schemeClr val="tx1"/>
          </a:solidFill>
          <a:latin typeface="+mn-lt"/>
          <a:ea typeface="+mn-ea"/>
          <a:cs typeface="+mn-cs"/>
        </a:defRPr>
      </a:lvl6pPr>
      <a:lvl7pPr marL="3918661" algn="l" defTabSz="653110" rtl="0" eaLnBrk="1" latinLnBrk="0" hangingPunct="1">
        <a:defRPr sz="2600" kern="1200">
          <a:solidFill>
            <a:schemeClr val="tx1"/>
          </a:solidFill>
          <a:latin typeface="+mn-lt"/>
          <a:ea typeface="+mn-ea"/>
          <a:cs typeface="+mn-cs"/>
        </a:defRPr>
      </a:lvl7pPr>
      <a:lvl8pPr marL="4571771" algn="l" defTabSz="653110" rtl="0" eaLnBrk="1" latinLnBrk="0" hangingPunct="1">
        <a:defRPr sz="2600" kern="1200">
          <a:solidFill>
            <a:schemeClr val="tx1"/>
          </a:solidFill>
          <a:latin typeface="+mn-lt"/>
          <a:ea typeface="+mn-ea"/>
          <a:cs typeface="+mn-cs"/>
        </a:defRPr>
      </a:lvl8pPr>
      <a:lvl9pPr marL="5224882" algn="l" defTabSz="653110"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1028700" y="914400"/>
            <a:ext cx="11658600" cy="2836863"/>
          </a:xfrm>
        </p:spPr>
        <p:txBody>
          <a:bodyPr/>
          <a:lstStyle/>
          <a:p>
            <a:pPr eaLnBrk="1" hangingPunct="1"/>
            <a:r>
              <a:rPr lang="tr-TR" dirty="0" smtClean="0"/>
              <a:t>5. Bölüm</a:t>
            </a:r>
            <a:r>
              <a:rPr lang="en-US" dirty="0" smtClean="0"/>
              <a:t>:  </a:t>
            </a:r>
            <a:r>
              <a:rPr lang="tr-TR" dirty="0" smtClean="0"/>
              <a:t>İş Sıralama </a:t>
            </a:r>
            <a:br>
              <a:rPr lang="tr-TR" dirty="0" smtClean="0"/>
            </a:br>
            <a:r>
              <a:rPr lang="tr-TR" dirty="0" smtClean="0"/>
              <a:t>(CPU </a:t>
            </a:r>
            <a:r>
              <a:rPr lang="tr-TR" dirty="0" err="1" smtClean="0"/>
              <a:t>Scheduling</a:t>
            </a:r>
            <a:r>
              <a:rPr lang="tr-TR" dirty="0" smtClean="0"/>
              <a:t>)</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057400" y="1116338"/>
            <a:ext cx="11658600" cy="768350"/>
          </a:xfrm>
        </p:spPr>
        <p:txBody>
          <a:bodyPr/>
          <a:lstStyle/>
          <a:p>
            <a:pPr eaLnBrk="1" hangingPunct="1"/>
            <a:r>
              <a:rPr lang="tr-TR" dirty="0" smtClean="0"/>
              <a:t>5. Bölüm</a:t>
            </a:r>
            <a:r>
              <a:rPr lang="en-US" dirty="0" smtClean="0"/>
              <a:t>:  </a:t>
            </a:r>
            <a:r>
              <a:rPr lang="tr-TR" dirty="0" smtClean="0"/>
              <a:t>İş Sıralama (CPU Zamanlama / Planlama / Çizelgeleme)</a:t>
            </a:r>
            <a:endParaRPr lang="en-US" dirty="0" smtClean="0"/>
          </a:p>
        </p:txBody>
      </p:sp>
      <p:sp>
        <p:nvSpPr>
          <p:cNvPr id="17411" name="Rectangle 3"/>
          <p:cNvSpPr>
            <a:spLocks noGrp="1" noChangeArrowheads="1"/>
          </p:cNvSpPr>
          <p:nvPr>
            <p:ph type="body" idx="1"/>
          </p:nvPr>
        </p:nvSpPr>
        <p:spPr>
          <a:xfrm>
            <a:off x="1228725" y="2159497"/>
            <a:ext cx="11004550" cy="5030787"/>
          </a:xfrm>
        </p:spPr>
        <p:txBody>
          <a:bodyPr/>
          <a:lstStyle/>
          <a:p>
            <a:r>
              <a:rPr lang="tr-TR" sz="2400" dirty="0" smtClean="0"/>
              <a:t>Temel Kavramlar</a:t>
            </a:r>
            <a:endParaRPr lang="en-US" sz="2400" dirty="0" smtClean="0"/>
          </a:p>
          <a:p>
            <a:r>
              <a:rPr lang="tr-TR" sz="2400" dirty="0" smtClean="0"/>
              <a:t>Sıralama Kriterleri</a:t>
            </a:r>
            <a:endParaRPr lang="en-US" sz="2400" dirty="0" smtClean="0"/>
          </a:p>
          <a:p>
            <a:r>
              <a:rPr lang="tr-TR" sz="2400" dirty="0" smtClean="0"/>
              <a:t>İş Sıralama Algoritmaları</a:t>
            </a:r>
            <a:endParaRPr lang="en-US" sz="2400" dirty="0" smtClean="0"/>
          </a:p>
          <a:p>
            <a:r>
              <a:rPr lang="tr-TR" sz="2400" dirty="0" smtClean="0"/>
              <a:t>İş Parçacığı Sıralama</a:t>
            </a:r>
            <a:endParaRPr lang="en-US" sz="2400" dirty="0" smtClean="0"/>
          </a:p>
          <a:p>
            <a:r>
              <a:rPr lang="tr-TR" sz="2400" dirty="0" smtClean="0"/>
              <a:t>Çoklu-işlemci Sıralama</a:t>
            </a:r>
            <a:endParaRPr lang="en-US" sz="2400" dirty="0" smtClean="0"/>
          </a:p>
          <a:p>
            <a:r>
              <a:rPr lang="tr-TR" sz="2400" dirty="0" smtClean="0"/>
              <a:t>İşletim Sistemleri Örnekleri</a:t>
            </a:r>
            <a:endParaRPr lang="en-US" sz="2400" dirty="0" smtClean="0"/>
          </a:p>
          <a:p>
            <a:r>
              <a:rPr lang="en-US" sz="2400" dirty="0" err="1" smtClean="0"/>
              <a:t>Algorit</a:t>
            </a:r>
            <a:r>
              <a:rPr lang="tr-TR" sz="2400" dirty="0" err="1" smtClean="0"/>
              <a:t>ma</a:t>
            </a:r>
            <a:r>
              <a:rPr lang="tr-TR" sz="2400" dirty="0" smtClean="0"/>
              <a:t> Değerlendirme</a:t>
            </a:r>
          </a:p>
          <a:p>
            <a:endParaRPr lang="en-US" sz="24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tr-TR" dirty="0" smtClean="0"/>
              <a:t>Hedefler</a:t>
            </a:r>
            <a:endParaRPr lang="en-US" dirty="0" smtClean="0"/>
          </a:p>
        </p:txBody>
      </p:sp>
      <p:sp>
        <p:nvSpPr>
          <p:cNvPr id="19459" name="Content Placeholder 2"/>
          <p:cNvSpPr>
            <a:spLocks noGrp="1"/>
          </p:cNvSpPr>
          <p:nvPr>
            <p:ph idx="1"/>
          </p:nvPr>
        </p:nvSpPr>
        <p:spPr>
          <a:xfrm>
            <a:off x="1062037" y="1663311"/>
            <a:ext cx="11591925" cy="6040438"/>
          </a:xfrm>
        </p:spPr>
        <p:txBody>
          <a:bodyPr/>
          <a:lstStyle/>
          <a:p>
            <a:r>
              <a:rPr lang="tr-TR" sz="2400" dirty="0" smtClean="0"/>
              <a:t>Çeşitli </a:t>
            </a:r>
            <a:r>
              <a:rPr lang="tr-TR" sz="2400" dirty="0"/>
              <a:t>CPU </a:t>
            </a:r>
            <a:r>
              <a:rPr lang="tr-TR" sz="2400" dirty="0" smtClean="0"/>
              <a:t>iş sıralama algoritmalarını tanımlamak</a:t>
            </a:r>
            <a:endParaRPr lang="tr-TR" sz="2400" dirty="0"/>
          </a:p>
          <a:p>
            <a:r>
              <a:rPr lang="tr-TR" sz="2400" dirty="0"/>
              <a:t>CPU </a:t>
            </a:r>
            <a:r>
              <a:rPr lang="tr-TR" sz="2400" dirty="0" smtClean="0"/>
              <a:t>iş sıralama algoritmalarını değerlendirmek</a:t>
            </a:r>
            <a:endParaRPr lang="tr-TR" sz="2400" dirty="0"/>
          </a:p>
          <a:p>
            <a:r>
              <a:rPr lang="tr-TR" sz="2400" dirty="0"/>
              <a:t>Çok işlemcili ve çok çekirdekli </a:t>
            </a:r>
            <a:r>
              <a:rPr lang="tr-TR" sz="2400" dirty="0" smtClean="0"/>
              <a:t>iş sıralama ile </a:t>
            </a:r>
            <a:r>
              <a:rPr lang="tr-TR" sz="2400" dirty="0"/>
              <a:t>ilgili sorunları </a:t>
            </a:r>
            <a:r>
              <a:rPr lang="tr-TR" sz="2400" dirty="0" smtClean="0"/>
              <a:t>açıklamak</a:t>
            </a:r>
            <a:endParaRPr lang="tr-TR" sz="2400" dirty="0"/>
          </a:p>
          <a:p>
            <a:r>
              <a:rPr lang="tr-TR" sz="2400" dirty="0"/>
              <a:t>Çeşitli gerçek zamanlı </a:t>
            </a:r>
            <a:r>
              <a:rPr lang="tr-TR" sz="2400" dirty="0" smtClean="0"/>
              <a:t>iş sıralama algoritmalarını tanımlamak </a:t>
            </a:r>
            <a:endParaRPr lang="tr-TR" sz="2400" dirty="0"/>
          </a:p>
          <a:p>
            <a:r>
              <a:rPr lang="tr-TR" sz="2400" dirty="0"/>
              <a:t>Windows, Linux ve </a:t>
            </a:r>
            <a:r>
              <a:rPr lang="tr-TR" sz="2400" dirty="0" err="1"/>
              <a:t>Solaris</a:t>
            </a:r>
            <a:r>
              <a:rPr lang="tr-TR" sz="2400" dirty="0"/>
              <a:t> işletim sistemlerinde kullanılan </a:t>
            </a:r>
            <a:r>
              <a:rPr lang="tr-TR" sz="2400" dirty="0" smtClean="0"/>
              <a:t>iş sıralama algoritmalarını açıklamak</a:t>
            </a:r>
            <a:endParaRPr lang="tr-TR" sz="2400" dirty="0"/>
          </a:p>
          <a:p>
            <a:r>
              <a:rPr lang="tr-TR" sz="2400" dirty="0"/>
              <a:t>CPU </a:t>
            </a:r>
            <a:r>
              <a:rPr lang="tr-TR" sz="2400" dirty="0" smtClean="0"/>
              <a:t>iş sıralama algoritmalarını </a:t>
            </a:r>
            <a:r>
              <a:rPr lang="tr-TR" sz="2400" dirty="0"/>
              <a:t>değerlendirmek için modelleme ve </a:t>
            </a:r>
            <a:r>
              <a:rPr lang="tr-TR" sz="2400" dirty="0" smtClean="0"/>
              <a:t>simülasyon yönteminden faydalanmak </a:t>
            </a:r>
            <a:endParaRPr lang="en-US" sz="2400" dirty="0" smtClean="0"/>
          </a:p>
          <a:p>
            <a:r>
              <a:rPr lang="tr-TR" sz="2400" dirty="0" smtClean="0"/>
              <a:t>Belirli bir sistem için CPU İş sıralama algoritma seçim kriterlerini değerlendirmek  </a:t>
            </a:r>
            <a:endParaRPr lang="en-US" sz="24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tr-TR" dirty="0" smtClean="0"/>
              <a:t>İş Parçacığı Sıralama</a:t>
            </a:r>
            <a:endParaRPr lang="en-US" dirty="0" smtClean="0"/>
          </a:p>
        </p:txBody>
      </p:sp>
      <p:sp>
        <p:nvSpPr>
          <p:cNvPr id="74755" name="Rectangle 3"/>
          <p:cNvSpPr>
            <a:spLocks noGrp="1" noChangeArrowheads="1"/>
          </p:cNvSpPr>
          <p:nvPr>
            <p:ph type="body" idx="1"/>
          </p:nvPr>
        </p:nvSpPr>
        <p:spPr>
          <a:xfrm>
            <a:off x="1209675" y="2103438"/>
            <a:ext cx="11491913" cy="4729162"/>
          </a:xfrm>
        </p:spPr>
        <p:txBody>
          <a:bodyPr/>
          <a:lstStyle/>
          <a:p>
            <a:r>
              <a:rPr lang="tr-TR" sz="2400" dirty="0" smtClean="0"/>
              <a:t>Kullanıcı-seviyeli ve çekirdek-seviyeli iş parçacıkları arasında ayrım  </a:t>
            </a:r>
            <a:endParaRPr lang="en-US" sz="2400" dirty="0" smtClean="0"/>
          </a:p>
          <a:p>
            <a:endParaRPr lang="en-US" sz="2400" dirty="0" smtClean="0"/>
          </a:p>
          <a:p>
            <a:r>
              <a:rPr lang="tr-TR" sz="2400" dirty="0" smtClean="0"/>
              <a:t>İş parçacıkları desteği varsa prosesler değil iş parçacıkları sıralanır  </a:t>
            </a:r>
            <a:endParaRPr lang="en-US" sz="2400" dirty="0" smtClean="0"/>
          </a:p>
          <a:p>
            <a:endParaRPr lang="en-US" sz="2400" dirty="0" smtClean="0"/>
          </a:p>
          <a:p>
            <a:r>
              <a:rPr lang="tr-TR" sz="2400" dirty="0" smtClean="0"/>
              <a:t>Çoktan- teke ve çoktan-</a:t>
            </a:r>
            <a:r>
              <a:rPr lang="tr-TR" sz="2400" dirty="0" err="1" smtClean="0"/>
              <a:t>çoka</a:t>
            </a:r>
            <a:r>
              <a:rPr lang="tr-TR" sz="2400" dirty="0" smtClean="0"/>
              <a:t> modelleri, iş parçacığı kütüphanesi LWP üzerinde çalışmak için kullanıcı seviyeli iş parçacıklarını sıralar  </a:t>
            </a:r>
            <a:endParaRPr lang="en-US" sz="2400" dirty="0" smtClean="0"/>
          </a:p>
          <a:p>
            <a:pPr lvl="1"/>
            <a:r>
              <a:rPr lang="tr-TR" sz="2400" dirty="0" smtClean="0"/>
              <a:t>İş sıralama yarışı proses içinde olduğu için </a:t>
            </a:r>
            <a:r>
              <a:rPr lang="tr-TR" sz="2400" b="1" dirty="0">
                <a:solidFill>
                  <a:srgbClr val="006699"/>
                </a:solidFill>
                <a:latin typeface="+mj-lt"/>
                <a:ea typeface="MS PGothic" pitchFamily="34" charset="-128"/>
              </a:rPr>
              <a:t>proses çekişme kapsamı </a:t>
            </a:r>
            <a:r>
              <a:rPr lang="en-US" sz="2400" b="1" dirty="0">
                <a:solidFill>
                  <a:srgbClr val="006699"/>
                </a:solidFill>
                <a:latin typeface="+mj-lt"/>
                <a:ea typeface="MS PGothic" pitchFamily="34" charset="-128"/>
              </a:rPr>
              <a:t> </a:t>
            </a:r>
            <a:r>
              <a:rPr lang="tr-TR" sz="2400" b="1" dirty="0">
                <a:solidFill>
                  <a:srgbClr val="006699"/>
                </a:solidFill>
                <a:latin typeface="+mj-lt"/>
                <a:ea typeface="MS PGothic" pitchFamily="34" charset="-128"/>
              </a:rPr>
              <a:t>(</a:t>
            </a:r>
            <a:r>
              <a:rPr lang="en-US" sz="2400" b="1" dirty="0">
                <a:solidFill>
                  <a:srgbClr val="006699"/>
                </a:solidFill>
                <a:latin typeface="+mj-lt"/>
                <a:ea typeface="MS PGothic" pitchFamily="34" charset="-128"/>
              </a:rPr>
              <a:t>process-contention scope</a:t>
            </a:r>
            <a:r>
              <a:rPr lang="tr-TR" sz="2400" b="1" dirty="0">
                <a:solidFill>
                  <a:srgbClr val="006699"/>
                </a:solidFill>
                <a:latin typeface="+mj-lt"/>
                <a:ea typeface="MS PGothic" pitchFamily="34" charset="-128"/>
              </a:rPr>
              <a:t>-</a:t>
            </a:r>
            <a:r>
              <a:rPr lang="en-US" sz="2400" b="1" dirty="0">
                <a:solidFill>
                  <a:srgbClr val="006699"/>
                </a:solidFill>
                <a:latin typeface="+mj-lt"/>
                <a:ea typeface="MS PGothic" pitchFamily="34" charset="-128"/>
              </a:rPr>
              <a:t>PCS)</a:t>
            </a:r>
            <a:r>
              <a:rPr lang="en-US" sz="2400" b="1" dirty="0" smtClean="0"/>
              <a:t> </a:t>
            </a:r>
            <a:r>
              <a:rPr lang="tr-TR" sz="2400" dirty="0"/>
              <a:t>olarak bilinir  </a:t>
            </a:r>
            <a:endParaRPr lang="en-US" sz="2400" dirty="0"/>
          </a:p>
          <a:p>
            <a:pPr lvl="1"/>
            <a:r>
              <a:rPr lang="tr-TR" sz="2400" dirty="0" smtClean="0"/>
              <a:t>Programcı tarafından öncelik kümesi yardımıyla yapılır  </a:t>
            </a:r>
            <a:endParaRPr lang="en-US" sz="2400" dirty="0" smtClean="0"/>
          </a:p>
          <a:p>
            <a:pPr lvl="1"/>
            <a:endParaRPr lang="en-US" sz="2400" dirty="0" smtClean="0"/>
          </a:p>
          <a:p>
            <a:r>
              <a:rPr lang="tr-TR" sz="2400" dirty="0" smtClean="0"/>
              <a:t>Mevcut CPU üzerinde sıralanan çekirdek iş parçacığı </a:t>
            </a:r>
            <a:r>
              <a:rPr lang="tr-TR" sz="2400" b="1" dirty="0">
                <a:solidFill>
                  <a:srgbClr val="006699"/>
                </a:solidFill>
                <a:latin typeface="+mj-lt"/>
                <a:ea typeface="MS PGothic" pitchFamily="34" charset="-128"/>
              </a:rPr>
              <a:t>sistem çekişme kapsamı (</a:t>
            </a:r>
            <a:r>
              <a:rPr lang="en-US" sz="2400" b="1" dirty="0">
                <a:solidFill>
                  <a:srgbClr val="006699"/>
                </a:solidFill>
                <a:latin typeface="+mj-lt"/>
                <a:ea typeface="MS PGothic" pitchFamily="34" charset="-128"/>
              </a:rPr>
              <a:t>system-contention scope</a:t>
            </a:r>
            <a:r>
              <a:rPr lang="tr-TR" sz="2400" b="1" dirty="0">
                <a:solidFill>
                  <a:srgbClr val="006699"/>
                </a:solidFill>
                <a:latin typeface="+mj-lt"/>
                <a:ea typeface="MS PGothic" pitchFamily="34" charset="-128"/>
              </a:rPr>
              <a:t>-</a:t>
            </a:r>
            <a:r>
              <a:rPr lang="en-US" sz="2400" b="1" dirty="0">
                <a:solidFill>
                  <a:srgbClr val="006699"/>
                </a:solidFill>
                <a:latin typeface="+mj-lt"/>
                <a:ea typeface="MS PGothic" pitchFamily="34" charset="-128"/>
              </a:rPr>
              <a:t>SCS)</a:t>
            </a:r>
            <a:r>
              <a:rPr lang="en-US" sz="2400" b="1" dirty="0" smtClean="0"/>
              <a:t> </a:t>
            </a:r>
            <a:r>
              <a:rPr lang="tr-TR" sz="2400" dirty="0" err="1" smtClean="0"/>
              <a:t>dır</a:t>
            </a:r>
            <a:r>
              <a:rPr lang="en-US" sz="2400" dirty="0" smtClean="0"/>
              <a:t>– </a:t>
            </a:r>
            <a:r>
              <a:rPr lang="tr-TR" sz="2400" dirty="0" smtClean="0"/>
              <a:t>sistemdeki tüm iş parçacıkları arasında yarış  </a:t>
            </a:r>
            <a:endParaRPr lang="en-US" sz="2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065213" y="369888"/>
            <a:ext cx="11964987" cy="768350"/>
          </a:xfrm>
        </p:spPr>
        <p:txBody>
          <a:bodyPr/>
          <a:lstStyle/>
          <a:p>
            <a:pPr eaLnBrk="1" hangingPunct="1"/>
            <a:r>
              <a:rPr lang="en-US" dirty="0" err="1" smtClean="0"/>
              <a:t>Pthread</a:t>
            </a:r>
            <a:r>
              <a:rPr lang="en-US" dirty="0" smtClean="0"/>
              <a:t> </a:t>
            </a:r>
            <a:r>
              <a:rPr lang="tr-TR" dirty="0" smtClean="0"/>
              <a:t>İş Sıralama</a:t>
            </a:r>
            <a:endParaRPr lang="en-US" dirty="0" smtClean="0"/>
          </a:p>
        </p:txBody>
      </p:sp>
      <p:sp>
        <p:nvSpPr>
          <p:cNvPr id="76803" name="Rectangle 3"/>
          <p:cNvSpPr>
            <a:spLocks noGrp="1" noChangeArrowheads="1"/>
          </p:cNvSpPr>
          <p:nvPr>
            <p:ph type="body" idx="1"/>
          </p:nvPr>
        </p:nvSpPr>
        <p:spPr>
          <a:xfrm>
            <a:off x="1209675" y="2103438"/>
            <a:ext cx="11491913" cy="4729162"/>
          </a:xfrm>
        </p:spPr>
        <p:txBody>
          <a:bodyPr/>
          <a:lstStyle/>
          <a:p>
            <a:r>
              <a:rPr lang="en-US" sz="2400" dirty="0" smtClean="0"/>
              <a:t>API </a:t>
            </a:r>
            <a:r>
              <a:rPr lang="tr-TR" sz="2400" dirty="0" smtClean="0"/>
              <a:t>iş parçacığının oluşturulması sırasında </a:t>
            </a:r>
            <a:r>
              <a:rPr lang="en-US" sz="2400" dirty="0"/>
              <a:t>PCS </a:t>
            </a:r>
            <a:r>
              <a:rPr lang="tr-TR" sz="2400" dirty="0" smtClean="0"/>
              <a:t>veya </a:t>
            </a:r>
            <a:r>
              <a:rPr lang="en-US" sz="2400" dirty="0" smtClean="0"/>
              <a:t>SCS </a:t>
            </a:r>
            <a:r>
              <a:rPr lang="tr-TR" sz="2400" dirty="0" smtClean="0"/>
              <a:t>olup olmamasını belirtmeyi olanaklı kılar   </a:t>
            </a:r>
            <a:endParaRPr lang="en-US" sz="2400" dirty="0" smtClean="0"/>
          </a:p>
          <a:p>
            <a:pPr lvl="1"/>
            <a:r>
              <a:rPr lang="en-US" sz="2400" dirty="0" smtClean="0"/>
              <a:t>PTHREAD_SCOPE_PROCESS PCS</a:t>
            </a:r>
            <a:r>
              <a:rPr lang="tr-TR" sz="2400" dirty="0" smtClean="0"/>
              <a:t> ile iş parçacıklarını sıralar  </a:t>
            </a:r>
            <a:endParaRPr lang="en-US" sz="2400" dirty="0" smtClean="0"/>
          </a:p>
          <a:p>
            <a:pPr lvl="1"/>
            <a:r>
              <a:rPr lang="en-US" sz="2400" dirty="0" smtClean="0"/>
              <a:t>PTHREAD_SCOPE_SYSTEM </a:t>
            </a:r>
            <a:r>
              <a:rPr lang="en-US" sz="2400" dirty="0"/>
              <a:t>SCS </a:t>
            </a:r>
            <a:r>
              <a:rPr lang="tr-TR" sz="2400" dirty="0" smtClean="0"/>
              <a:t>ile iş parçacıklarını sıralar  </a:t>
            </a:r>
            <a:endParaRPr lang="en-US" sz="2400" dirty="0" smtClean="0"/>
          </a:p>
          <a:p>
            <a:r>
              <a:rPr lang="en-US" sz="2400" dirty="0"/>
              <a:t>OS </a:t>
            </a:r>
            <a:r>
              <a:rPr lang="tr-TR" sz="2400" dirty="0" smtClean="0"/>
              <a:t>tarafından sınırlandırılabilir </a:t>
            </a:r>
            <a:r>
              <a:rPr lang="en-US" sz="2400" dirty="0" smtClean="0"/>
              <a:t>– Linux </a:t>
            </a:r>
            <a:r>
              <a:rPr lang="tr-TR" sz="2400" dirty="0" smtClean="0"/>
              <a:t>ve </a:t>
            </a:r>
            <a:r>
              <a:rPr lang="en-US" sz="2400" dirty="0" smtClean="0"/>
              <a:t>Mac OS X </a:t>
            </a:r>
            <a:r>
              <a:rPr lang="tr-TR" sz="2400" dirty="0" smtClean="0"/>
              <a:t>sadece </a:t>
            </a:r>
            <a:r>
              <a:rPr lang="en-US" sz="2400" dirty="0" smtClean="0"/>
              <a:t>PTHREAD_SCOPE_SYSTEM</a:t>
            </a:r>
            <a:r>
              <a:rPr lang="tr-TR" sz="2400" dirty="0"/>
              <a:t> </a:t>
            </a:r>
            <a:r>
              <a:rPr lang="tr-TR" sz="2400" dirty="0" smtClean="0"/>
              <a:t>i kullanır</a:t>
            </a:r>
            <a:endParaRPr lang="en-US" sz="2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xmlns="" id="{72B3D0AB-2002-4908-882F-E691F73389A3}"/>
              </a:ext>
            </a:extLst>
          </p:cNvPr>
          <p:cNvSpPr>
            <a:spLocks noGrp="1" noChangeArrowheads="1"/>
          </p:cNvSpPr>
          <p:nvPr>
            <p:ph type="title"/>
          </p:nvPr>
        </p:nvSpPr>
        <p:spPr>
          <a:xfrm>
            <a:off x="1807027" y="150350"/>
            <a:ext cx="10537372" cy="768349"/>
          </a:xfrm>
        </p:spPr>
        <p:txBody>
          <a:bodyPr/>
          <a:lstStyle/>
          <a:p>
            <a:pPr eaLnBrk="1" hangingPunct="1"/>
            <a:r>
              <a:rPr lang="en-US" altLang="en-US" dirty="0" err="1"/>
              <a:t>Pthread</a:t>
            </a:r>
            <a:r>
              <a:rPr lang="en-US" altLang="en-US" dirty="0"/>
              <a:t> </a:t>
            </a:r>
            <a:r>
              <a:rPr lang="tr-TR" altLang="en-US" dirty="0" smtClean="0"/>
              <a:t>Sıralama </a:t>
            </a:r>
            <a:r>
              <a:rPr lang="en-US" altLang="en-US" dirty="0" smtClean="0"/>
              <a:t>API</a:t>
            </a:r>
            <a:endParaRPr lang="en-US" altLang="en-US" dirty="0"/>
          </a:p>
        </p:txBody>
      </p:sp>
      <p:sp>
        <p:nvSpPr>
          <p:cNvPr id="65538" name="Rectangle 3">
            <a:extLst>
              <a:ext uri="{FF2B5EF4-FFF2-40B4-BE49-F238E27FC236}">
                <a16:creationId xmlns:a16="http://schemas.microsoft.com/office/drawing/2014/main" xmlns="" id="{B97D95DB-777A-482C-BA27-4C2D3C6CA8AF}"/>
              </a:ext>
            </a:extLst>
          </p:cNvPr>
          <p:cNvSpPr>
            <a:spLocks noGrp="1" noChangeArrowheads="1"/>
          </p:cNvSpPr>
          <p:nvPr>
            <p:ph type="body" idx="1"/>
          </p:nvPr>
        </p:nvSpPr>
        <p:spPr>
          <a:xfrm>
            <a:off x="2813051" y="1257301"/>
            <a:ext cx="9091083" cy="6559551"/>
          </a:xfrm>
        </p:spPr>
        <p:txBody>
          <a:bodyPr/>
          <a:lstStyle/>
          <a:p>
            <a:pPr marL="0" indent="0">
              <a:buNone/>
            </a:pPr>
            <a:r>
              <a:rPr lang="en-US" altLang="en-US" sz="1867" dirty="0">
                <a:latin typeface="Courier New" panose="02070309020205020404" pitchFamily="49" charset="0"/>
              </a:rPr>
              <a:t>#include &lt;</a:t>
            </a:r>
            <a:r>
              <a:rPr lang="en-US" altLang="en-US" sz="1867" dirty="0" err="1">
                <a:latin typeface="Courier New" panose="02070309020205020404" pitchFamily="49" charset="0"/>
              </a:rPr>
              <a:t>pthread.h</a:t>
            </a:r>
            <a:r>
              <a:rPr lang="en-US" altLang="en-US" sz="1867" dirty="0">
                <a:latin typeface="Courier New" panose="02070309020205020404" pitchFamily="49" charset="0"/>
              </a:rPr>
              <a:t>&gt; </a:t>
            </a:r>
          </a:p>
          <a:p>
            <a:pPr marL="0" indent="0">
              <a:buNone/>
            </a:pPr>
            <a:r>
              <a:rPr lang="en-US" altLang="en-US" sz="1867" dirty="0">
                <a:latin typeface="Courier New" panose="02070309020205020404" pitchFamily="49" charset="0"/>
              </a:rPr>
              <a:t>#include &lt;</a:t>
            </a:r>
            <a:r>
              <a:rPr lang="en-US" altLang="en-US" sz="1867" dirty="0" err="1">
                <a:latin typeface="Courier New" panose="02070309020205020404" pitchFamily="49" charset="0"/>
              </a:rPr>
              <a:t>stdio.h</a:t>
            </a:r>
            <a:r>
              <a:rPr lang="en-US" altLang="en-US" sz="1867" dirty="0">
                <a:latin typeface="Courier New" panose="02070309020205020404" pitchFamily="49" charset="0"/>
              </a:rPr>
              <a:t>&gt; </a:t>
            </a:r>
          </a:p>
          <a:p>
            <a:pPr marL="0" indent="0">
              <a:buNone/>
            </a:pPr>
            <a:r>
              <a:rPr lang="en-US" altLang="en-US" sz="1867" dirty="0">
                <a:latin typeface="Courier New" panose="02070309020205020404" pitchFamily="49" charset="0"/>
              </a:rPr>
              <a:t>#define NUM_THREADS 5 </a:t>
            </a:r>
          </a:p>
          <a:p>
            <a:pPr marL="0" indent="0">
              <a:buNone/>
            </a:pPr>
            <a:r>
              <a:rPr lang="en-US" altLang="en-US" sz="1867" dirty="0">
                <a:latin typeface="Courier New" panose="02070309020205020404" pitchFamily="49" charset="0"/>
              </a:rPr>
              <a:t>int main(int </a:t>
            </a:r>
            <a:r>
              <a:rPr lang="en-US" altLang="en-US" sz="1867" dirty="0" err="1">
                <a:latin typeface="Courier New" panose="02070309020205020404" pitchFamily="49" charset="0"/>
              </a:rPr>
              <a:t>argc</a:t>
            </a:r>
            <a:r>
              <a:rPr lang="en-US" altLang="en-US" sz="1867" dirty="0">
                <a:latin typeface="Courier New" panose="02070309020205020404" pitchFamily="49" charset="0"/>
              </a:rPr>
              <a:t>, char *</a:t>
            </a:r>
            <a:r>
              <a:rPr lang="en-US" altLang="en-US" sz="1867" dirty="0" err="1">
                <a:latin typeface="Courier New" panose="02070309020205020404" pitchFamily="49" charset="0"/>
              </a:rPr>
              <a:t>argv</a:t>
            </a:r>
            <a:r>
              <a:rPr lang="en-US" altLang="en-US" sz="1867" dirty="0">
                <a:latin typeface="Courier New" panose="02070309020205020404" pitchFamily="49" charset="0"/>
              </a:rPr>
              <a:t>[]) { </a:t>
            </a:r>
          </a:p>
          <a:p>
            <a:pPr marL="0" indent="0">
              <a:buNone/>
            </a:pPr>
            <a:r>
              <a:rPr lang="en-US" altLang="en-US" sz="1867" dirty="0">
                <a:latin typeface="Courier New" panose="02070309020205020404" pitchFamily="49" charset="0"/>
              </a:rPr>
              <a:t>   int </a:t>
            </a:r>
            <a:r>
              <a:rPr lang="en-US" altLang="en-US" sz="1867" dirty="0" err="1">
                <a:latin typeface="Courier New" panose="02070309020205020404" pitchFamily="49" charset="0"/>
              </a:rPr>
              <a:t>i</a:t>
            </a:r>
            <a:r>
              <a:rPr lang="en-US" altLang="en-US" sz="1867" dirty="0">
                <a:latin typeface="Courier New" panose="02070309020205020404" pitchFamily="49" charset="0"/>
              </a:rPr>
              <a:t>, scope;</a:t>
            </a:r>
            <a:br>
              <a:rPr lang="en-US" altLang="en-US" sz="1867" dirty="0">
                <a:latin typeface="Courier New" panose="02070309020205020404" pitchFamily="49" charset="0"/>
              </a:rPr>
            </a:br>
            <a:r>
              <a:rPr lang="en-US" altLang="en-US" sz="1867" dirty="0">
                <a:latin typeface="Courier New" panose="02070309020205020404" pitchFamily="49" charset="0"/>
              </a:rPr>
              <a:t>   </a:t>
            </a:r>
            <a:r>
              <a:rPr lang="en-US" altLang="en-US" sz="1867" dirty="0" err="1">
                <a:latin typeface="Courier New" panose="02070309020205020404" pitchFamily="49" charset="0"/>
              </a:rPr>
              <a:t>pthread_t</a:t>
            </a:r>
            <a:r>
              <a:rPr lang="en-US" altLang="en-US" sz="1867" dirty="0">
                <a:latin typeface="Courier New" panose="02070309020205020404" pitchFamily="49" charset="0"/>
              </a:rPr>
              <a:t> </a:t>
            </a:r>
            <a:r>
              <a:rPr lang="en-US" altLang="en-US" sz="1867" dirty="0" err="1">
                <a:latin typeface="Courier New" panose="02070309020205020404" pitchFamily="49" charset="0"/>
              </a:rPr>
              <a:t>tid</a:t>
            </a:r>
            <a:r>
              <a:rPr lang="en-US" altLang="en-US" sz="1867" dirty="0">
                <a:latin typeface="Courier New" panose="02070309020205020404" pitchFamily="49" charset="0"/>
              </a:rPr>
              <a:t>[NUM THREADS]; </a:t>
            </a:r>
          </a:p>
          <a:p>
            <a:pPr marL="0" indent="0">
              <a:buNone/>
            </a:pPr>
            <a:r>
              <a:rPr lang="en-US" altLang="en-US" sz="1867" dirty="0">
                <a:latin typeface="Courier New" panose="02070309020205020404" pitchFamily="49" charset="0"/>
              </a:rPr>
              <a:t>   </a:t>
            </a:r>
            <a:r>
              <a:rPr lang="en-US" altLang="en-US" sz="1867" dirty="0" err="1">
                <a:latin typeface="Courier New" panose="02070309020205020404" pitchFamily="49" charset="0"/>
              </a:rPr>
              <a:t>pthread_attr_t</a:t>
            </a:r>
            <a:r>
              <a:rPr lang="en-US" altLang="en-US" sz="1867" dirty="0">
                <a:latin typeface="Courier New" panose="02070309020205020404" pitchFamily="49" charset="0"/>
              </a:rPr>
              <a:t> </a:t>
            </a:r>
            <a:r>
              <a:rPr lang="en-US" altLang="en-US" sz="1867" dirty="0" err="1">
                <a:latin typeface="Courier New" panose="02070309020205020404" pitchFamily="49" charset="0"/>
              </a:rPr>
              <a:t>attr</a:t>
            </a:r>
            <a:r>
              <a:rPr lang="en-US" altLang="en-US" sz="1867" dirty="0">
                <a:latin typeface="Courier New" panose="02070309020205020404" pitchFamily="49" charset="0"/>
              </a:rPr>
              <a:t>; </a:t>
            </a:r>
          </a:p>
          <a:p>
            <a:pPr marL="0" indent="0">
              <a:buNone/>
            </a:pPr>
            <a:r>
              <a:rPr lang="en-US" altLang="en-US" sz="1867" dirty="0">
                <a:latin typeface="Courier New" panose="02070309020205020404" pitchFamily="49" charset="0"/>
              </a:rPr>
              <a:t>   /* get the default attributes */ </a:t>
            </a:r>
          </a:p>
          <a:p>
            <a:pPr marL="0" indent="0">
              <a:buNone/>
            </a:pPr>
            <a:r>
              <a:rPr lang="en-US" altLang="en-US" sz="1867" dirty="0">
                <a:latin typeface="Courier New" panose="02070309020205020404" pitchFamily="49" charset="0"/>
              </a:rPr>
              <a:t>   </a:t>
            </a:r>
            <a:r>
              <a:rPr lang="en-US" altLang="en-US" sz="1867" dirty="0" err="1">
                <a:latin typeface="Courier New" panose="02070309020205020404" pitchFamily="49" charset="0"/>
              </a:rPr>
              <a:t>pthread_attr_init</a:t>
            </a:r>
            <a:r>
              <a:rPr lang="en-US" altLang="en-US" sz="1867" dirty="0">
                <a:latin typeface="Courier New" panose="02070309020205020404" pitchFamily="49" charset="0"/>
              </a:rPr>
              <a:t>(&amp;</a:t>
            </a:r>
            <a:r>
              <a:rPr lang="en-US" altLang="en-US" sz="1867" dirty="0" err="1">
                <a:latin typeface="Courier New" panose="02070309020205020404" pitchFamily="49" charset="0"/>
              </a:rPr>
              <a:t>attr</a:t>
            </a:r>
            <a:r>
              <a:rPr lang="en-US" altLang="en-US" sz="1867" dirty="0">
                <a:latin typeface="Courier New" panose="02070309020205020404" pitchFamily="49" charset="0"/>
              </a:rPr>
              <a:t>); </a:t>
            </a:r>
          </a:p>
          <a:p>
            <a:pPr marL="0" indent="0">
              <a:buNone/>
            </a:pPr>
            <a:r>
              <a:rPr lang="en-US" altLang="en-US" sz="1867" dirty="0">
                <a:latin typeface="Courier New" panose="02070309020205020404" pitchFamily="49" charset="0"/>
              </a:rPr>
              <a:t>   /* first inquire on the current scope */</a:t>
            </a:r>
            <a:br>
              <a:rPr lang="en-US" altLang="en-US" sz="1867" dirty="0">
                <a:latin typeface="Courier New" panose="02070309020205020404" pitchFamily="49" charset="0"/>
              </a:rPr>
            </a:br>
            <a:r>
              <a:rPr lang="en-US" altLang="en-US" sz="1867" dirty="0">
                <a:latin typeface="Courier New" panose="02070309020205020404" pitchFamily="49" charset="0"/>
              </a:rPr>
              <a:t>   if (</a:t>
            </a:r>
            <a:r>
              <a:rPr lang="en-US" altLang="en-US" sz="1867" dirty="0" err="1">
                <a:latin typeface="Courier New" panose="02070309020205020404" pitchFamily="49" charset="0"/>
              </a:rPr>
              <a:t>pthread_attr_getscope</a:t>
            </a:r>
            <a:r>
              <a:rPr lang="en-US" altLang="en-US" sz="1867" dirty="0">
                <a:latin typeface="Courier New" panose="02070309020205020404" pitchFamily="49" charset="0"/>
              </a:rPr>
              <a:t>(&amp;</a:t>
            </a:r>
            <a:r>
              <a:rPr lang="en-US" altLang="en-US" sz="1867" dirty="0" err="1">
                <a:latin typeface="Courier New" panose="02070309020205020404" pitchFamily="49" charset="0"/>
              </a:rPr>
              <a:t>attr</a:t>
            </a:r>
            <a:r>
              <a:rPr lang="en-US" altLang="en-US" sz="1867" dirty="0">
                <a:latin typeface="Courier New" panose="02070309020205020404" pitchFamily="49" charset="0"/>
              </a:rPr>
              <a:t>, &amp;scope) != 0) </a:t>
            </a:r>
          </a:p>
          <a:p>
            <a:pPr marL="0" indent="0">
              <a:buNone/>
            </a:pPr>
            <a:r>
              <a:rPr lang="en-US" altLang="en-US" sz="1867" dirty="0">
                <a:latin typeface="Courier New" panose="02070309020205020404" pitchFamily="49" charset="0"/>
              </a:rPr>
              <a:t>      </a:t>
            </a:r>
            <a:r>
              <a:rPr lang="en-US" altLang="en-US" sz="1867" dirty="0" err="1">
                <a:latin typeface="Courier New" panose="02070309020205020404" pitchFamily="49" charset="0"/>
              </a:rPr>
              <a:t>fprintf</a:t>
            </a:r>
            <a:r>
              <a:rPr lang="en-US" altLang="en-US" sz="1867" dirty="0">
                <a:latin typeface="Courier New" panose="02070309020205020404" pitchFamily="49" charset="0"/>
              </a:rPr>
              <a:t>(stderr, "Unable to get scheduling scope\n"); </a:t>
            </a:r>
          </a:p>
          <a:p>
            <a:pPr marL="0" indent="0">
              <a:buNone/>
            </a:pPr>
            <a:r>
              <a:rPr lang="en-US" altLang="en-US" sz="1867" dirty="0">
                <a:latin typeface="Courier New" panose="02070309020205020404" pitchFamily="49" charset="0"/>
              </a:rPr>
              <a:t>   else { </a:t>
            </a:r>
          </a:p>
          <a:p>
            <a:pPr marL="0" indent="0">
              <a:buNone/>
            </a:pPr>
            <a:r>
              <a:rPr lang="en-US" altLang="en-US" sz="1867" dirty="0">
                <a:latin typeface="Courier New" panose="02070309020205020404" pitchFamily="49" charset="0"/>
              </a:rPr>
              <a:t>      if (scope == PTHREAD_SCOPE_PROCESS) </a:t>
            </a:r>
          </a:p>
          <a:p>
            <a:pPr marL="0" indent="0">
              <a:buNone/>
            </a:pPr>
            <a:r>
              <a:rPr lang="en-US" altLang="en-US" sz="1867" dirty="0">
                <a:latin typeface="Courier New" panose="02070309020205020404" pitchFamily="49" charset="0"/>
              </a:rPr>
              <a:t>         </a:t>
            </a:r>
            <a:r>
              <a:rPr lang="en-US" altLang="en-US" sz="1867" dirty="0" err="1">
                <a:latin typeface="Courier New" panose="02070309020205020404" pitchFamily="49" charset="0"/>
              </a:rPr>
              <a:t>printf</a:t>
            </a:r>
            <a:r>
              <a:rPr lang="en-US" altLang="en-US" sz="1867" dirty="0">
                <a:latin typeface="Courier New" panose="02070309020205020404" pitchFamily="49" charset="0"/>
              </a:rPr>
              <a:t>("PTHREAD_SCOPE_PROCESS"); </a:t>
            </a:r>
          </a:p>
          <a:p>
            <a:pPr marL="0" indent="0">
              <a:buNone/>
            </a:pPr>
            <a:r>
              <a:rPr lang="en-US" altLang="en-US" sz="1867" dirty="0">
                <a:latin typeface="Courier New" panose="02070309020205020404" pitchFamily="49" charset="0"/>
              </a:rPr>
              <a:t>      else if (scope == PTHREAD_SCOPE_SYSTEM) </a:t>
            </a:r>
          </a:p>
          <a:p>
            <a:pPr marL="0" indent="0">
              <a:buNone/>
            </a:pPr>
            <a:r>
              <a:rPr lang="en-US" altLang="en-US" sz="1867" dirty="0">
                <a:latin typeface="Courier New" panose="02070309020205020404" pitchFamily="49" charset="0"/>
              </a:rPr>
              <a:t>         </a:t>
            </a:r>
            <a:r>
              <a:rPr lang="en-US" altLang="en-US" sz="1867" dirty="0" err="1">
                <a:latin typeface="Courier New" panose="02070309020205020404" pitchFamily="49" charset="0"/>
              </a:rPr>
              <a:t>printf</a:t>
            </a:r>
            <a:r>
              <a:rPr lang="en-US" altLang="en-US" sz="1867" dirty="0">
                <a:latin typeface="Courier New" panose="02070309020205020404" pitchFamily="49" charset="0"/>
              </a:rPr>
              <a:t>("PTHREAD_SCOPE_SYSTEM"); </a:t>
            </a:r>
          </a:p>
          <a:p>
            <a:pPr marL="0" indent="0">
              <a:buNone/>
            </a:pPr>
            <a:r>
              <a:rPr lang="en-US" altLang="en-US" sz="1867" dirty="0">
                <a:latin typeface="Courier New" panose="02070309020205020404" pitchFamily="49" charset="0"/>
              </a:rPr>
              <a:t>      else</a:t>
            </a:r>
            <a:br>
              <a:rPr lang="en-US" altLang="en-US" sz="1867" dirty="0">
                <a:latin typeface="Courier New" panose="02070309020205020404" pitchFamily="49" charset="0"/>
              </a:rPr>
            </a:br>
            <a:r>
              <a:rPr lang="en-US" altLang="en-US" sz="1867" dirty="0">
                <a:latin typeface="Courier New" panose="02070309020205020404" pitchFamily="49" charset="0"/>
              </a:rPr>
              <a:t>         </a:t>
            </a:r>
            <a:r>
              <a:rPr lang="en-US" altLang="en-US" sz="1867" dirty="0" err="1">
                <a:latin typeface="Courier New" panose="02070309020205020404" pitchFamily="49" charset="0"/>
              </a:rPr>
              <a:t>fprintf</a:t>
            </a:r>
            <a:r>
              <a:rPr lang="en-US" altLang="en-US" sz="1867" dirty="0">
                <a:latin typeface="Courier New" panose="02070309020205020404" pitchFamily="49" charset="0"/>
              </a:rPr>
              <a:t>(stderr, "Illegal scope value.\n"); </a:t>
            </a:r>
          </a:p>
          <a:p>
            <a:pPr marL="0" indent="0">
              <a:buNone/>
            </a:pPr>
            <a:r>
              <a:rPr lang="en-US" altLang="en-US" sz="1867" dirty="0">
                <a:latin typeface="Courier New" panose="02070309020205020404" pitchFamily="49" charset="0"/>
              </a:rPr>
              <a:t>   } </a:t>
            </a:r>
          </a:p>
        </p:txBody>
      </p:sp>
    </p:spTree>
    <p:extLst>
      <p:ext uri="{BB962C8B-B14F-4D97-AF65-F5344CB8AC3E}">
        <p14:creationId xmlns:p14="http://schemas.microsoft.com/office/powerpoint/2010/main" val="1595496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xmlns="" id="{1393D9C5-7295-4A4A-95B0-13D4147B56B9}"/>
              </a:ext>
            </a:extLst>
          </p:cNvPr>
          <p:cNvSpPr>
            <a:spLocks noGrp="1" noChangeArrowheads="1"/>
          </p:cNvSpPr>
          <p:nvPr>
            <p:ph type="title"/>
          </p:nvPr>
        </p:nvSpPr>
        <p:spPr>
          <a:xfrm>
            <a:off x="1856792" y="186291"/>
            <a:ext cx="10450285" cy="768349"/>
          </a:xfrm>
        </p:spPr>
        <p:txBody>
          <a:bodyPr/>
          <a:lstStyle/>
          <a:p>
            <a:pPr eaLnBrk="1" hangingPunct="1"/>
            <a:r>
              <a:rPr lang="en-US" altLang="en-US" dirty="0" err="1"/>
              <a:t>Pthread</a:t>
            </a:r>
            <a:r>
              <a:rPr lang="en-US" altLang="en-US" dirty="0"/>
              <a:t> </a:t>
            </a:r>
            <a:r>
              <a:rPr lang="tr-TR" altLang="en-US" dirty="0" smtClean="0"/>
              <a:t>Sıralama </a:t>
            </a:r>
            <a:r>
              <a:rPr lang="en-US" altLang="en-US" dirty="0" smtClean="0"/>
              <a:t>API</a:t>
            </a:r>
            <a:endParaRPr lang="en-US" altLang="en-US" dirty="0"/>
          </a:p>
        </p:txBody>
      </p:sp>
      <p:sp>
        <p:nvSpPr>
          <p:cNvPr id="67586" name="Rectangle 3">
            <a:extLst>
              <a:ext uri="{FF2B5EF4-FFF2-40B4-BE49-F238E27FC236}">
                <a16:creationId xmlns:a16="http://schemas.microsoft.com/office/drawing/2014/main" xmlns="" id="{DE0BE125-B65D-4233-99FB-D540D5E26A70}"/>
              </a:ext>
            </a:extLst>
          </p:cNvPr>
          <p:cNvSpPr>
            <a:spLocks noGrp="1" noChangeArrowheads="1"/>
          </p:cNvSpPr>
          <p:nvPr>
            <p:ph type="body" idx="1"/>
          </p:nvPr>
        </p:nvSpPr>
        <p:spPr>
          <a:xfrm>
            <a:off x="2059517" y="1591734"/>
            <a:ext cx="9762067" cy="6354233"/>
          </a:xfrm>
        </p:spPr>
        <p:txBody>
          <a:bodyPr/>
          <a:lstStyle/>
          <a:p>
            <a:pPr marL="0" indent="0">
              <a:buNone/>
            </a:pPr>
            <a:r>
              <a:rPr lang="en-US" altLang="en-US" sz="2267" dirty="0">
                <a:latin typeface="Courier New" panose="02070309020205020404" pitchFamily="49" charset="0"/>
              </a:rPr>
              <a:t>   /* set the scheduling algorithm to PCS or SCS */ </a:t>
            </a:r>
          </a:p>
          <a:p>
            <a:pPr marL="0" indent="0">
              <a:buNone/>
            </a:pPr>
            <a:r>
              <a:rPr lang="en-US" altLang="en-US" sz="2267" dirty="0">
                <a:latin typeface="Courier New" panose="02070309020205020404" pitchFamily="49" charset="0"/>
              </a:rPr>
              <a:t>   </a:t>
            </a:r>
            <a:r>
              <a:rPr lang="en-US" altLang="en-US" sz="2267" dirty="0" err="1">
                <a:latin typeface="Courier New" panose="02070309020205020404" pitchFamily="49" charset="0"/>
              </a:rPr>
              <a:t>pthread_attr_setscope</a:t>
            </a:r>
            <a:r>
              <a:rPr lang="en-US" altLang="en-US" sz="2267" dirty="0">
                <a:latin typeface="Courier New" panose="02070309020205020404" pitchFamily="49" charset="0"/>
              </a:rPr>
              <a:t>(&amp;</a:t>
            </a:r>
            <a:r>
              <a:rPr lang="en-US" altLang="en-US" sz="2267" dirty="0" err="1">
                <a:latin typeface="Courier New" panose="02070309020205020404" pitchFamily="49" charset="0"/>
              </a:rPr>
              <a:t>attr</a:t>
            </a:r>
            <a:r>
              <a:rPr lang="en-US" altLang="en-US" sz="2267" dirty="0">
                <a:latin typeface="Courier New" panose="02070309020205020404" pitchFamily="49" charset="0"/>
              </a:rPr>
              <a:t>, PTHREAD_SCOPE_SYSTEM); </a:t>
            </a:r>
          </a:p>
          <a:p>
            <a:pPr marL="0" indent="0">
              <a:buNone/>
            </a:pPr>
            <a:r>
              <a:rPr lang="en-US" altLang="en-US" sz="2267" dirty="0">
                <a:latin typeface="Courier New" panose="02070309020205020404" pitchFamily="49" charset="0"/>
              </a:rPr>
              <a:t>   /* create the threads */</a:t>
            </a:r>
            <a:br>
              <a:rPr lang="en-US" altLang="en-US" sz="2267" dirty="0">
                <a:latin typeface="Courier New" panose="02070309020205020404" pitchFamily="49" charset="0"/>
              </a:rPr>
            </a:br>
            <a:r>
              <a:rPr lang="en-US" altLang="en-US" sz="2267" dirty="0">
                <a:latin typeface="Courier New" panose="02070309020205020404" pitchFamily="49" charset="0"/>
              </a:rPr>
              <a:t>   for (</a:t>
            </a:r>
            <a:r>
              <a:rPr lang="en-US" altLang="en-US" sz="2267" dirty="0" err="1">
                <a:latin typeface="Courier New" panose="02070309020205020404" pitchFamily="49" charset="0"/>
              </a:rPr>
              <a:t>i</a:t>
            </a:r>
            <a:r>
              <a:rPr lang="en-US" altLang="en-US" sz="2267" dirty="0">
                <a:latin typeface="Courier New" panose="02070309020205020404" pitchFamily="49" charset="0"/>
              </a:rPr>
              <a:t> = 0; </a:t>
            </a:r>
            <a:r>
              <a:rPr lang="en-US" altLang="en-US" sz="2267" dirty="0" err="1">
                <a:latin typeface="Courier New" panose="02070309020205020404" pitchFamily="49" charset="0"/>
              </a:rPr>
              <a:t>i</a:t>
            </a:r>
            <a:r>
              <a:rPr lang="en-US" altLang="en-US" sz="2267" dirty="0">
                <a:latin typeface="Courier New" panose="02070309020205020404" pitchFamily="49" charset="0"/>
              </a:rPr>
              <a:t> &lt; NUM_THREADS; </a:t>
            </a:r>
            <a:r>
              <a:rPr lang="en-US" altLang="en-US" sz="2267" dirty="0" err="1">
                <a:latin typeface="Courier New" panose="02070309020205020404" pitchFamily="49" charset="0"/>
              </a:rPr>
              <a:t>i</a:t>
            </a:r>
            <a:r>
              <a:rPr lang="en-US" altLang="en-US" sz="2267" dirty="0">
                <a:latin typeface="Courier New" panose="02070309020205020404" pitchFamily="49" charset="0"/>
              </a:rPr>
              <a:t>++) </a:t>
            </a:r>
          </a:p>
          <a:p>
            <a:pPr marL="0" indent="0">
              <a:buNone/>
            </a:pPr>
            <a:r>
              <a:rPr lang="en-US" altLang="en-US" sz="2267" dirty="0">
                <a:latin typeface="Courier New" panose="02070309020205020404" pitchFamily="49" charset="0"/>
              </a:rPr>
              <a:t>      </a:t>
            </a:r>
            <a:r>
              <a:rPr lang="en-US" altLang="en-US" sz="2267" dirty="0" err="1">
                <a:latin typeface="Courier New" panose="02070309020205020404" pitchFamily="49" charset="0"/>
              </a:rPr>
              <a:t>pthread_create</a:t>
            </a:r>
            <a:r>
              <a:rPr lang="en-US" altLang="en-US" sz="2267" dirty="0">
                <a:latin typeface="Courier New" panose="02070309020205020404" pitchFamily="49" charset="0"/>
              </a:rPr>
              <a:t>(&amp;</a:t>
            </a:r>
            <a:r>
              <a:rPr lang="en-US" altLang="en-US" sz="2267" dirty="0" err="1">
                <a:latin typeface="Courier New" panose="02070309020205020404" pitchFamily="49" charset="0"/>
              </a:rPr>
              <a:t>tid</a:t>
            </a:r>
            <a:r>
              <a:rPr lang="en-US" altLang="en-US" sz="2267" dirty="0">
                <a:latin typeface="Courier New" panose="02070309020205020404" pitchFamily="49" charset="0"/>
              </a:rPr>
              <a:t>[</a:t>
            </a:r>
            <a:r>
              <a:rPr lang="en-US" altLang="en-US" sz="2267" dirty="0" err="1">
                <a:latin typeface="Courier New" panose="02070309020205020404" pitchFamily="49" charset="0"/>
              </a:rPr>
              <a:t>i</a:t>
            </a:r>
            <a:r>
              <a:rPr lang="en-US" altLang="en-US" sz="2267" dirty="0">
                <a:latin typeface="Courier New" panose="02070309020205020404" pitchFamily="49" charset="0"/>
              </a:rPr>
              <a:t>],&amp;</a:t>
            </a:r>
            <a:r>
              <a:rPr lang="en-US" altLang="en-US" sz="2267" dirty="0" err="1">
                <a:latin typeface="Courier New" panose="02070309020205020404" pitchFamily="49" charset="0"/>
              </a:rPr>
              <a:t>attr,runner,NULL</a:t>
            </a:r>
            <a:r>
              <a:rPr lang="en-US" altLang="en-US" sz="2267" dirty="0">
                <a:latin typeface="Courier New" panose="02070309020205020404" pitchFamily="49" charset="0"/>
              </a:rPr>
              <a:t>); </a:t>
            </a:r>
          </a:p>
          <a:p>
            <a:pPr marL="0" indent="0">
              <a:buNone/>
            </a:pPr>
            <a:r>
              <a:rPr lang="en-US" altLang="en-US" sz="2267" dirty="0">
                <a:latin typeface="Courier New" panose="02070309020205020404" pitchFamily="49" charset="0"/>
              </a:rPr>
              <a:t>   /* now join on each thread */</a:t>
            </a:r>
            <a:br>
              <a:rPr lang="en-US" altLang="en-US" sz="2267" dirty="0">
                <a:latin typeface="Courier New" panose="02070309020205020404" pitchFamily="49" charset="0"/>
              </a:rPr>
            </a:br>
            <a:r>
              <a:rPr lang="en-US" altLang="en-US" sz="2267" dirty="0">
                <a:latin typeface="Courier New" panose="02070309020205020404" pitchFamily="49" charset="0"/>
              </a:rPr>
              <a:t>   for (</a:t>
            </a:r>
            <a:r>
              <a:rPr lang="en-US" altLang="en-US" sz="2267" dirty="0" err="1">
                <a:latin typeface="Courier New" panose="02070309020205020404" pitchFamily="49" charset="0"/>
              </a:rPr>
              <a:t>i</a:t>
            </a:r>
            <a:r>
              <a:rPr lang="en-US" altLang="en-US" sz="2267" dirty="0">
                <a:latin typeface="Courier New" panose="02070309020205020404" pitchFamily="49" charset="0"/>
              </a:rPr>
              <a:t> = 0; </a:t>
            </a:r>
            <a:r>
              <a:rPr lang="en-US" altLang="en-US" sz="2267" dirty="0" err="1">
                <a:latin typeface="Courier New" panose="02070309020205020404" pitchFamily="49" charset="0"/>
              </a:rPr>
              <a:t>i</a:t>
            </a:r>
            <a:r>
              <a:rPr lang="en-US" altLang="en-US" sz="2267" dirty="0">
                <a:latin typeface="Courier New" panose="02070309020205020404" pitchFamily="49" charset="0"/>
              </a:rPr>
              <a:t> &lt; NUM_THREADS; </a:t>
            </a:r>
            <a:r>
              <a:rPr lang="en-US" altLang="en-US" sz="2267" dirty="0" err="1">
                <a:latin typeface="Courier New" panose="02070309020205020404" pitchFamily="49" charset="0"/>
              </a:rPr>
              <a:t>i</a:t>
            </a:r>
            <a:r>
              <a:rPr lang="en-US" altLang="en-US" sz="2267" dirty="0">
                <a:latin typeface="Courier New" panose="02070309020205020404" pitchFamily="49" charset="0"/>
              </a:rPr>
              <a:t>++) </a:t>
            </a:r>
          </a:p>
          <a:p>
            <a:pPr marL="0" indent="0">
              <a:buNone/>
            </a:pPr>
            <a:r>
              <a:rPr lang="en-US" altLang="en-US" sz="2267" dirty="0">
                <a:latin typeface="Courier New" panose="02070309020205020404" pitchFamily="49" charset="0"/>
              </a:rPr>
              <a:t>      </a:t>
            </a:r>
            <a:r>
              <a:rPr lang="en-US" altLang="en-US" sz="2267" dirty="0" err="1">
                <a:latin typeface="Courier New" panose="02070309020205020404" pitchFamily="49" charset="0"/>
              </a:rPr>
              <a:t>pthread_join</a:t>
            </a:r>
            <a:r>
              <a:rPr lang="en-US" altLang="en-US" sz="2267" dirty="0">
                <a:latin typeface="Courier New" panose="02070309020205020404" pitchFamily="49" charset="0"/>
              </a:rPr>
              <a:t>(</a:t>
            </a:r>
            <a:r>
              <a:rPr lang="en-US" altLang="en-US" sz="2267" dirty="0" err="1">
                <a:latin typeface="Courier New" panose="02070309020205020404" pitchFamily="49" charset="0"/>
              </a:rPr>
              <a:t>tid</a:t>
            </a:r>
            <a:r>
              <a:rPr lang="en-US" altLang="en-US" sz="2267" dirty="0">
                <a:latin typeface="Courier New" panose="02070309020205020404" pitchFamily="49" charset="0"/>
              </a:rPr>
              <a:t>[</a:t>
            </a:r>
            <a:r>
              <a:rPr lang="en-US" altLang="en-US" sz="2267" dirty="0" err="1">
                <a:latin typeface="Courier New" panose="02070309020205020404" pitchFamily="49" charset="0"/>
              </a:rPr>
              <a:t>i</a:t>
            </a:r>
            <a:r>
              <a:rPr lang="en-US" altLang="en-US" sz="2267" dirty="0">
                <a:latin typeface="Courier New" panose="02070309020205020404" pitchFamily="49" charset="0"/>
              </a:rPr>
              <a:t>], NULL); </a:t>
            </a:r>
          </a:p>
          <a:p>
            <a:pPr marL="0" indent="0">
              <a:buNone/>
            </a:pPr>
            <a:r>
              <a:rPr lang="en-US" altLang="en-US" sz="2267" dirty="0">
                <a:latin typeface="Courier New" panose="02070309020205020404" pitchFamily="49" charset="0"/>
              </a:rPr>
              <a:t>} </a:t>
            </a:r>
          </a:p>
          <a:p>
            <a:pPr marL="0" indent="0">
              <a:buNone/>
            </a:pPr>
            <a:r>
              <a:rPr lang="en-US" altLang="en-US" sz="2267" dirty="0">
                <a:latin typeface="Courier New" panose="02070309020205020404" pitchFamily="49" charset="0"/>
              </a:rPr>
              <a:t>/* Each thread will begin control in this function */ </a:t>
            </a:r>
          </a:p>
          <a:p>
            <a:pPr marL="0" indent="0">
              <a:buNone/>
            </a:pPr>
            <a:r>
              <a:rPr lang="en-US" altLang="en-US" sz="2267" dirty="0">
                <a:latin typeface="Courier New" panose="02070309020205020404" pitchFamily="49" charset="0"/>
              </a:rPr>
              <a:t>void *runner(void *param)</a:t>
            </a:r>
            <a:br>
              <a:rPr lang="en-US" altLang="en-US" sz="2267" dirty="0">
                <a:latin typeface="Courier New" panose="02070309020205020404" pitchFamily="49" charset="0"/>
              </a:rPr>
            </a:br>
            <a:r>
              <a:rPr lang="en-US" altLang="en-US" sz="2267" dirty="0">
                <a:latin typeface="Courier New" panose="02070309020205020404" pitchFamily="49" charset="0"/>
              </a:rPr>
              <a:t>{ </a:t>
            </a:r>
          </a:p>
          <a:p>
            <a:pPr marL="0" indent="0">
              <a:buNone/>
            </a:pPr>
            <a:r>
              <a:rPr lang="en-US" altLang="en-US" sz="2267" dirty="0">
                <a:latin typeface="Courier New" panose="02070309020205020404" pitchFamily="49" charset="0"/>
              </a:rPr>
              <a:t>   /* do some work ... */ </a:t>
            </a:r>
          </a:p>
          <a:p>
            <a:pPr marL="0" indent="0">
              <a:buNone/>
            </a:pPr>
            <a:r>
              <a:rPr lang="en-US" altLang="en-US" sz="2267" dirty="0">
                <a:latin typeface="Courier New" panose="02070309020205020404" pitchFamily="49" charset="0"/>
              </a:rPr>
              <a:t>   </a:t>
            </a:r>
            <a:r>
              <a:rPr lang="en-US" altLang="en-US" sz="2267" dirty="0" err="1">
                <a:latin typeface="Courier New" panose="02070309020205020404" pitchFamily="49" charset="0"/>
              </a:rPr>
              <a:t>pthread_exit</a:t>
            </a:r>
            <a:r>
              <a:rPr lang="en-US" altLang="en-US" sz="2267" dirty="0">
                <a:latin typeface="Courier New" panose="02070309020205020404" pitchFamily="49" charset="0"/>
              </a:rPr>
              <a:t>(0); </a:t>
            </a:r>
          </a:p>
          <a:p>
            <a:pPr marL="0" indent="0">
              <a:buNone/>
            </a:pPr>
            <a:r>
              <a:rPr lang="en-US" altLang="en-US" sz="2267" dirty="0">
                <a:latin typeface="Courier New" panose="02070309020205020404" pitchFamily="49" charset="0"/>
              </a:rPr>
              <a:t>} </a:t>
            </a:r>
          </a:p>
        </p:txBody>
      </p:sp>
    </p:spTree>
    <p:extLst>
      <p:ext uri="{BB962C8B-B14F-4D97-AF65-F5344CB8AC3E}">
        <p14:creationId xmlns:p14="http://schemas.microsoft.com/office/powerpoint/2010/main" val="856731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446213" y="369888"/>
            <a:ext cx="11583987" cy="768350"/>
          </a:xfrm>
        </p:spPr>
        <p:txBody>
          <a:bodyPr/>
          <a:lstStyle/>
          <a:p>
            <a:pPr eaLnBrk="1" hangingPunct="1"/>
            <a:r>
              <a:rPr lang="tr-TR" dirty="0" smtClean="0"/>
              <a:t>Çok İşlemcili İş Sıralama </a:t>
            </a:r>
            <a:endParaRPr lang="en-US" dirty="0" smtClean="0"/>
          </a:p>
        </p:txBody>
      </p:sp>
      <p:sp>
        <p:nvSpPr>
          <p:cNvPr id="82947" name="Rectangle 3"/>
          <p:cNvSpPr>
            <a:spLocks noGrp="1" noChangeArrowheads="1"/>
          </p:cNvSpPr>
          <p:nvPr>
            <p:ph type="body" idx="1"/>
          </p:nvPr>
        </p:nvSpPr>
        <p:spPr>
          <a:xfrm>
            <a:off x="1241425" y="1881188"/>
            <a:ext cx="11407775" cy="6411912"/>
          </a:xfrm>
        </p:spPr>
        <p:txBody>
          <a:bodyPr/>
          <a:lstStyle/>
          <a:p>
            <a:r>
              <a:rPr lang="tr-TR" sz="2400" dirty="0" smtClean="0"/>
              <a:t>Birden fazla CPU varsa iş sıralama daha karmaşık olur.  </a:t>
            </a:r>
            <a:endParaRPr lang="en-US" sz="2400" dirty="0" smtClean="0"/>
          </a:p>
          <a:p>
            <a:endParaRPr lang="en-US" sz="1400" dirty="0" smtClean="0"/>
          </a:p>
          <a:p>
            <a:r>
              <a:rPr lang="tr-TR" sz="2400" dirty="0" smtClean="0"/>
              <a:t>Çok işlemci aşağıdaki mimarilerden biridir: </a:t>
            </a:r>
          </a:p>
          <a:p>
            <a:pPr lvl="1"/>
            <a:r>
              <a:rPr lang="tr-TR" sz="2400" dirty="0" smtClean="0"/>
              <a:t>Çok çekirdekli </a:t>
            </a:r>
            <a:r>
              <a:rPr lang="tr-TR" sz="2400" dirty="0" err="1" smtClean="0"/>
              <a:t>CPUlar</a:t>
            </a:r>
            <a:endParaRPr lang="tr-TR" sz="2400" dirty="0" smtClean="0"/>
          </a:p>
          <a:p>
            <a:pPr lvl="1"/>
            <a:r>
              <a:rPr lang="tr-TR" sz="2400" dirty="0" smtClean="0"/>
              <a:t>Çoklu İş Parçacıklı çekirdekler </a:t>
            </a:r>
          </a:p>
          <a:p>
            <a:pPr lvl="1"/>
            <a:r>
              <a:rPr lang="tr-TR" sz="2400" dirty="0" smtClean="0"/>
              <a:t>NUMA sistemleri </a:t>
            </a:r>
          </a:p>
          <a:p>
            <a:pPr lvl="1"/>
            <a:r>
              <a:rPr lang="tr-TR" sz="2400" dirty="0" smtClean="0"/>
              <a:t>Heterojen çok işlemcili sistemler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xmlns="" id="{C7F1E55F-983C-47F8-ADBE-54E15FEFD9AB}"/>
              </a:ext>
            </a:extLst>
          </p:cNvPr>
          <p:cNvSpPr>
            <a:spLocks noGrp="1"/>
          </p:cNvSpPr>
          <p:nvPr>
            <p:ph type="title"/>
          </p:nvPr>
        </p:nvSpPr>
        <p:spPr>
          <a:xfrm>
            <a:off x="1954107" y="231630"/>
            <a:ext cx="10972800" cy="768349"/>
          </a:xfrm>
        </p:spPr>
        <p:txBody>
          <a:bodyPr/>
          <a:lstStyle/>
          <a:p>
            <a:r>
              <a:rPr lang="tr-TR" altLang="en-US" dirty="0" smtClean="0"/>
              <a:t>Çok İşlemcili Sıralama </a:t>
            </a:r>
            <a:endParaRPr lang="en-US" altLang="en-US" dirty="0"/>
          </a:p>
        </p:txBody>
      </p:sp>
      <p:sp>
        <p:nvSpPr>
          <p:cNvPr id="71682" name="Content Placeholder 2">
            <a:extLst>
              <a:ext uri="{FF2B5EF4-FFF2-40B4-BE49-F238E27FC236}">
                <a16:creationId xmlns:a16="http://schemas.microsoft.com/office/drawing/2014/main" xmlns="" id="{7A08C823-220F-4189-B103-BC03391E7F6B}"/>
              </a:ext>
            </a:extLst>
          </p:cNvPr>
          <p:cNvSpPr>
            <a:spLocks noGrp="1"/>
          </p:cNvSpPr>
          <p:nvPr>
            <p:ph idx="1"/>
          </p:nvPr>
        </p:nvSpPr>
        <p:spPr/>
        <p:txBody>
          <a:bodyPr/>
          <a:lstStyle/>
          <a:p>
            <a:r>
              <a:rPr lang="en-US" sz="2400" dirty="0" err="1" smtClean="0"/>
              <a:t>Simetrik</a:t>
            </a:r>
            <a:r>
              <a:rPr lang="en-US" sz="2400" dirty="0" smtClean="0"/>
              <a:t> </a:t>
            </a:r>
            <a:r>
              <a:rPr lang="en-US" sz="2400" dirty="0" err="1"/>
              <a:t>çoklu</a:t>
            </a:r>
            <a:r>
              <a:rPr lang="en-US" sz="2400" dirty="0"/>
              <a:t> </a:t>
            </a:r>
            <a:r>
              <a:rPr lang="tr-TR" sz="2400" dirty="0" smtClean="0"/>
              <a:t>işlemci </a:t>
            </a:r>
            <a:r>
              <a:rPr lang="en-US" sz="2400" dirty="0" smtClean="0"/>
              <a:t>(SMP</a:t>
            </a:r>
            <a:r>
              <a:rPr lang="en-US" sz="2400" dirty="0"/>
              <a:t>), her </a:t>
            </a:r>
            <a:r>
              <a:rPr lang="en-US" sz="2400" dirty="0" err="1"/>
              <a:t>işlemcinin</a:t>
            </a:r>
            <a:r>
              <a:rPr lang="en-US" sz="2400" dirty="0"/>
              <a:t> </a:t>
            </a:r>
            <a:r>
              <a:rPr lang="en-US" sz="2400" dirty="0" err="1"/>
              <a:t>kendi</a:t>
            </a:r>
            <a:r>
              <a:rPr lang="en-US" sz="2400" dirty="0"/>
              <a:t> </a:t>
            </a:r>
            <a:r>
              <a:rPr lang="en-US" sz="2400" dirty="0" err="1"/>
              <a:t>kendini</a:t>
            </a:r>
            <a:r>
              <a:rPr lang="en-US" sz="2400" dirty="0"/>
              <a:t> </a:t>
            </a:r>
            <a:r>
              <a:rPr lang="tr-TR" sz="2400" dirty="0" smtClean="0"/>
              <a:t>sıraladığı bir sistemdir. </a:t>
            </a:r>
          </a:p>
          <a:p>
            <a:r>
              <a:rPr lang="en-US" sz="2400" dirty="0" err="1" smtClean="0"/>
              <a:t>Tüm</a:t>
            </a:r>
            <a:r>
              <a:rPr lang="en-US" sz="2400" dirty="0" smtClean="0"/>
              <a:t> </a:t>
            </a:r>
            <a:r>
              <a:rPr lang="en-US" sz="2400" dirty="0" err="1"/>
              <a:t>iş</a:t>
            </a:r>
            <a:r>
              <a:rPr lang="en-US" sz="2400" dirty="0"/>
              <a:t> </a:t>
            </a:r>
            <a:r>
              <a:rPr lang="en-US" sz="2400" dirty="0" err="1"/>
              <a:t>parçacıkları</a:t>
            </a:r>
            <a:r>
              <a:rPr lang="en-US" sz="2400" dirty="0"/>
              <a:t> </a:t>
            </a:r>
            <a:r>
              <a:rPr lang="en-US" sz="2400" dirty="0" err="1"/>
              <a:t>ortak</a:t>
            </a:r>
            <a:r>
              <a:rPr lang="en-US" sz="2400" dirty="0"/>
              <a:t> </a:t>
            </a:r>
            <a:r>
              <a:rPr lang="en-US" sz="2400" dirty="0" err="1"/>
              <a:t>bir</a:t>
            </a:r>
            <a:r>
              <a:rPr lang="en-US" sz="2400" dirty="0"/>
              <a:t> </a:t>
            </a:r>
            <a:r>
              <a:rPr lang="en-US" sz="2400" dirty="0" err="1"/>
              <a:t>hazır</a:t>
            </a:r>
            <a:r>
              <a:rPr lang="en-US" sz="2400" dirty="0"/>
              <a:t> </a:t>
            </a:r>
            <a:r>
              <a:rPr lang="tr-TR" sz="2400" dirty="0" smtClean="0"/>
              <a:t>kuyruğunda </a:t>
            </a:r>
            <a:r>
              <a:rPr lang="en-US" sz="2400" dirty="0" err="1" smtClean="0"/>
              <a:t>olabilir</a:t>
            </a:r>
            <a:r>
              <a:rPr lang="en-US" sz="2400" dirty="0" smtClean="0"/>
              <a:t> </a:t>
            </a:r>
            <a:r>
              <a:rPr lang="en-US" sz="2400" dirty="0"/>
              <a:t>(a) </a:t>
            </a:r>
            <a:endParaRPr lang="tr-TR" sz="2400" dirty="0" smtClean="0"/>
          </a:p>
          <a:p>
            <a:r>
              <a:rPr lang="en-US" sz="2400" dirty="0" smtClean="0"/>
              <a:t>Her </a:t>
            </a:r>
            <a:r>
              <a:rPr lang="en-US" sz="2400" dirty="0" err="1"/>
              <a:t>işlemcinin</a:t>
            </a:r>
            <a:r>
              <a:rPr lang="en-US" sz="2400" dirty="0"/>
              <a:t> </a:t>
            </a:r>
            <a:r>
              <a:rPr lang="en-US" sz="2400" dirty="0" err="1"/>
              <a:t>kendi</a:t>
            </a:r>
            <a:r>
              <a:rPr lang="en-US" sz="2400" dirty="0"/>
              <a:t> </a:t>
            </a:r>
            <a:r>
              <a:rPr lang="en-US" sz="2400" dirty="0" err="1"/>
              <a:t>özel</a:t>
            </a:r>
            <a:r>
              <a:rPr lang="en-US" sz="2400" dirty="0"/>
              <a:t> </a:t>
            </a:r>
            <a:r>
              <a:rPr lang="en-US" sz="2400" dirty="0" err="1"/>
              <a:t>iş</a:t>
            </a:r>
            <a:r>
              <a:rPr lang="en-US" sz="2400" dirty="0"/>
              <a:t> </a:t>
            </a:r>
            <a:r>
              <a:rPr lang="en-US" sz="2400" dirty="0" err="1"/>
              <a:t>parçacığı</a:t>
            </a:r>
            <a:r>
              <a:rPr lang="en-US" sz="2400" dirty="0"/>
              <a:t> </a:t>
            </a:r>
            <a:r>
              <a:rPr lang="tr-TR" sz="2400" dirty="0" smtClean="0"/>
              <a:t>kuyruğu </a:t>
            </a:r>
            <a:r>
              <a:rPr lang="en-US" sz="2400" dirty="0" err="1" smtClean="0"/>
              <a:t>olabilir</a:t>
            </a:r>
            <a:r>
              <a:rPr lang="en-US" sz="2400" dirty="0" smtClean="0"/>
              <a:t> </a:t>
            </a:r>
            <a:r>
              <a:rPr lang="en-US" sz="2400" dirty="0"/>
              <a:t>(b)</a:t>
            </a:r>
            <a:endParaRPr lang="tr-TR" sz="2400" dirty="0"/>
          </a:p>
        </p:txBody>
      </p:sp>
      <p:pic>
        <p:nvPicPr>
          <p:cNvPr id="71683" name="Picture 3">
            <a:extLst>
              <a:ext uri="{FF2B5EF4-FFF2-40B4-BE49-F238E27FC236}">
                <a16:creationId xmlns:a16="http://schemas.microsoft.com/office/drawing/2014/main" xmlns=""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2367" y="3869268"/>
            <a:ext cx="7175500" cy="371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4824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xmlns="" id="{4EE83DAD-0182-4281-9CC2-965A55B66551}"/>
              </a:ext>
            </a:extLst>
          </p:cNvPr>
          <p:cNvSpPr>
            <a:spLocks noGrp="1"/>
          </p:cNvSpPr>
          <p:nvPr>
            <p:ph type="title"/>
          </p:nvPr>
        </p:nvSpPr>
        <p:spPr>
          <a:xfrm>
            <a:off x="1915584" y="162560"/>
            <a:ext cx="10428816" cy="767480"/>
          </a:xfrm>
        </p:spPr>
        <p:txBody>
          <a:bodyPr/>
          <a:lstStyle/>
          <a:p>
            <a:pPr eaLnBrk="1" hangingPunct="1"/>
            <a:r>
              <a:rPr lang="tr-TR" altLang="en-US" dirty="0" smtClean="0"/>
              <a:t>Çok Çekirdekli İşlemciler</a:t>
            </a:r>
            <a:endParaRPr lang="en-US" altLang="en-US" dirty="0"/>
          </a:p>
        </p:txBody>
      </p:sp>
      <p:sp>
        <p:nvSpPr>
          <p:cNvPr id="72706" name="Content Placeholder 2">
            <a:extLst>
              <a:ext uri="{FF2B5EF4-FFF2-40B4-BE49-F238E27FC236}">
                <a16:creationId xmlns:a16="http://schemas.microsoft.com/office/drawing/2014/main" xmlns="" id="{AEEE112F-E1F9-4A4D-91F5-E4A039580C88}"/>
              </a:ext>
            </a:extLst>
          </p:cNvPr>
          <p:cNvSpPr>
            <a:spLocks noGrp="1"/>
          </p:cNvSpPr>
          <p:nvPr>
            <p:ph idx="1"/>
          </p:nvPr>
        </p:nvSpPr>
        <p:spPr>
          <a:xfrm>
            <a:off x="1831912" y="1360171"/>
            <a:ext cx="10226349" cy="6040967"/>
          </a:xfrm>
        </p:spPr>
        <p:txBody>
          <a:bodyPr/>
          <a:lstStyle/>
          <a:p>
            <a:r>
              <a:rPr lang="tr-TR" sz="2400" dirty="0"/>
              <a:t>Son eğilim birden fazla işlemci çekirdeğini tek bir fiziksel çip üzerine yerleştirmektir  </a:t>
            </a:r>
            <a:endParaRPr lang="en-US" sz="2400" dirty="0"/>
          </a:p>
          <a:p>
            <a:r>
              <a:rPr lang="tr-TR" sz="2400" dirty="0"/>
              <a:t>Daha hızlı ve daha az güç harcar  </a:t>
            </a:r>
            <a:endParaRPr lang="en-US" sz="2400" dirty="0"/>
          </a:p>
          <a:p>
            <a:r>
              <a:rPr lang="tr-TR" sz="2400" dirty="0"/>
              <a:t>Çekirdek başına birden fazla iş parçacığı ortaya çıkıyor</a:t>
            </a:r>
            <a:endParaRPr lang="en-US" sz="2400" dirty="0"/>
          </a:p>
          <a:p>
            <a:pPr lvl="1"/>
            <a:r>
              <a:rPr lang="tr-TR" sz="2400" dirty="0"/>
              <a:t>Bellekten veri alınırken bir başka iş parçacığı üzerinde devam etmek için ara verilmesinin avantajını kullanır  </a:t>
            </a:r>
            <a:endParaRPr lang="en-US" sz="2400" dirty="0"/>
          </a:p>
          <a:p>
            <a:pPr lvl="1"/>
            <a:endParaRPr lang="en-US" altLang="en-US" dirty="0"/>
          </a:p>
          <a:p>
            <a:pPr lvl="1">
              <a:buFont typeface="Monotype Sorts" pitchFamily="-84" charset="2"/>
              <a:buNone/>
            </a:pPr>
            <a:r>
              <a:rPr lang="en-US" altLang="en-US" dirty="0"/>
              <a:t> </a:t>
            </a:r>
          </a:p>
        </p:txBody>
      </p:sp>
      <p:pic>
        <p:nvPicPr>
          <p:cNvPr id="72707" name="Picture 1">
            <a:extLst>
              <a:ext uri="{FF2B5EF4-FFF2-40B4-BE49-F238E27FC236}">
                <a16:creationId xmlns:a16="http://schemas.microsoft.com/office/drawing/2014/main" xmlns=""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5384" y="5098627"/>
            <a:ext cx="7644753" cy="187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9499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1795463" y="369888"/>
            <a:ext cx="11920537" cy="768350"/>
          </a:xfrm>
        </p:spPr>
        <p:txBody>
          <a:bodyPr/>
          <a:lstStyle/>
          <a:p>
            <a:pPr eaLnBrk="1" hangingPunct="1"/>
            <a:r>
              <a:rPr lang="tr-TR" dirty="0" smtClean="0"/>
              <a:t>Çoklu İş Parçacıklı Çok Çekirdekli Sistem</a:t>
            </a:r>
            <a:endParaRPr lang="en-US" dirty="0" smtClean="0"/>
          </a:p>
        </p:txBody>
      </p:sp>
      <p:pic>
        <p:nvPicPr>
          <p:cNvPr id="89092" name="Picture 3"/>
          <p:cNvPicPr>
            <a:picLocks noChangeAspect="1"/>
          </p:cNvPicPr>
          <p:nvPr/>
        </p:nvPicPr>
        <p:blipFill>
          <a:blip r:embed="rId3"/>
          <a:srcRect/>
          <a:stretch>
            <a:fillRect/>
          </a:stretch>
        </p:blipFill>
        <p:spPr bwMode="auto">
          <a:xfrm>
            <a:off x="1671638" y="4964113"/>
            <a:ext cx="10309225" cy="2257425"/>
          </a:xfrm>
          <a:prstGeom prst="rect">
            <a:avLst/>
          </a:prstGeom>
          <a:noFill/>
          <a:ln w="9525">
            <a:noFill/>
            <a:miter lim="800000"/>
            <a:headEnd/>
            <a:tailEnd/>
          </a:ln>
        </p:spPr>
      </p:pic>
      <p:sp>
        <p:nvSpPr>
          <p:cNvPr id="2" name="Dikdörtgen 1"/>
          <p:cNvSpPr/>
          <p:nvPr/>
        </p:nvSpPr>
        <p:spPr>
          <a:xfrm>
            <a:off x="1325880" y="1701076"/>
            <a:ext cx="11445240" cy="1200329"/>
          </a:xfrm>
          <a:prstGeom prst="rect">
            <a:avLst/>
          </a:prstGeom>
        </p:spPr>
        <p:txBody>
          <a:bodyPr wrap="square">
            <a:spAutoFit/>
          </a:bodyPr>
          <a:lstStyle/>
          <a:p>
            <a:pPr marL="342900" indent="-342900">
              <a:buFont typeface="Arial" panose="020B0604020202020204" pitchFamily="34" charset="0"/>
              <a:buChar char="•"/>
            </a:pPr>
            <a:r>
              <a:rPr lang="en-US" sz="2400" dirty="0" smtClean="0"/>
              <a:t>Her </a:t>
            </a:r>
            <a:r>
              <a:rPr lang="en-US" sz="2400" dirty="0" err="1"/>
              <a:t>çekirdek</a:t>
            </a:r>
            <a:r>
              <a:rPr lang="en-US" sz="2400" dirty="0"/>
              <a:t> &gt; 1 </a:t>
            </a:r>
            <a:r>
              <a:rPr lang="en-US" sz="2400" dirty="0" err="1"/>
              <a:t>donanım</a:t>
            </a:r>
            <a:r>
              <a:rPr lang="en-US" sz="2400" dirty="0"/>
              <a:t> </a:t>
            </a:r>
            <a:r>
              <a:rPr lang="en-US" sz="2400" dirty="0" err="1"/>
              <a:t>iş</a:t>
            </a:r>
            <a:r>
              <a:rPr lang="en-US" sz="2400" dirty="0"/>
              <a:t> </a:t>
            </a:r>
            <a:r>
              <a:rPr lang="en-US" sz="2400" dirty="0" err="1"/>
              <a:t>parçacığına</a:t>
            </a:r>
            <a:r>
              <a:rPr lang="en-US" sz="2400" dirty="0"/>
              <a:t> </a:t>
            </a:r>
            <a:r>
              <a:rPr lang="en-US" sz="2400" dirty="0" err="1"/>
              <a:t>sahiptir</a:t>
            </a:r>
            <a:r>
              <a:rPr lang="en-US" sz="2400" dirty="0"/>
              <a:t>.  </a:t>
            </a:r>
            <a:endParaRPr lang="tr-TR" sz="2400" dirty="0" smtClean="0"/>
          </a:p>
          <a:p>
            <a:pPr marL="342900" indent="-342900">
              <a:buFont typeface="Arial" panose="020B0604020202020204" pitchFamily="34" charset="0"/>
              <a:buChar char="•"/>
            </a:pPr>
            <a:r>
              <a:rPr lang="en-US" sz="2400" dirty="0" err="1" smtClean="0"/>
              <a:t>Bir</a:t>
            </a:r>
            <a:r>
              <a:rPr lang="en-US" sz="2400" dirty="0" smtClean="0"/>
              <a:t> </a:t>
            </a:r>
            <a:r>
              <a:rPr lang="en-US" sz="2400" dirty="0" err="1"/>
              <a:t>iş</a:t>
            </a:r>
            <a:r>
              <a:rPr lang="en-US" sz="2400" dirty="0"/>
              <a:t> </a:t>
            </a:r>
            <a:r>
              <a:rPr lang="en-US" sz="2400" dirty="0" err="1"/>
              <a:t>parçacığının</a:t>
            </a:r>
            <a:r>
              <a:rPr lang="en-US" sz="2400" dirty="0"/>
              <a:t> </a:t>
            </a:r>
            <a:r>
              <a:rPr lang="en-US" sz="2400" dirty="0" err="1"/>
              <a:t>bellek</a:t>
            </a:r>
            <a:r>
              <a:rPr lang="en-US" sz="2400" dirty="0"/>
              <a:t> </a:t>
            </a:r>
            <a:r>
              <a:rPr lang="tr-TR" sz="2400" dirty="0" smtClean="0"/>
              <a:t>okuma işlemi </a:t>
            </a:r>
            <a:r>
              <a:rPr lang="en-US" sz="2400" dirty="0" err="1" smtClean="0"/>
              <a:t>varsa</a:t>
            </a:r>
            <a:r>
              <a:rPr lang="en-US" sz="2400" dirty="0"/>
              <a:t>, </a:t>
            </a:r>
            <a:r>
              <a:rPr lang="en-US" sz="2400" dirty="0" err="1"/>
              <a:t>başka</a:t>
            </a:r>
            <a:r>
              <a:rPr lang="en-US" sz="2400" dirty="0"/>
              <a:t> </a:t>
            </a:r>
            <a:r>
              <a:rPr lang="en-US" sz="2400" dirty="0" err="1"/>
              <a:t>bir</a:t>
            </a:r>
            <a:r>
              <a:rPr lang="en-US" sz="2400" dirty="0"/>
              <a:t> </a:t>
            </a:r>
            <a:r>
              <a:rPr lang="en-US" sz="2400" dirty="0" err="1"/>
              <a:t>iş</a:t>
            </a:r>
            <a:r>
              <a:rPr lang="en-US" sz="2400" dirty="0"/>
              <a:t> </a:t>
            </a:r>
            <a:r>
              <a:rPr lang="en-US" sz="2400" dirty="0" err="1"/>
              <a:t>parçacığına</a:t>
            </a:r>
            <a:r>
              <a:rPr lang="en-US" sz="2400" dirty="0"/>
              <a:t> </a:t>
            </a:r>
            <a:r>
              <a:rPr lang="en-US" sz="2400" dirty="0" err="1"/>
              <a:t>geçin</a:t>
            </a:r>
            <a:r>
              <a:rPr lang="en-US" sz="2400" dirty="0"/>
              <a:t>! </a:t>
            </a:r>
            <a:endParaRPr lang="tr-T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xmlns="" id="{A98C968A-AF4F-450D-BAED-792FA6118868}"/>
              </a:ext>
            </a:extLst>
          </p:cNvPr>
          <p:cNvSpPr>
            <a:spLocks noGrp="1"/>
          </p:cNvSpPr>
          <p:nvPr>
            <p:ph idx="1"/>
          </p:nvPr>
        </p:nvSpPr>
        <p:spPr>
          <a:xfrm>
            <a:off x="1630680" y="1395307"/>
            <a:ext cx="5562600" cy="6032924"/>
          </a:xfrm>
        </p:spPr>
        <p:txBody>
          <a:bodyPr/>
          <a:lstStyle/>
          <a:p>
            <a:r>
              <a:rPr lang="tr-TR" sz="2400" dirty="0" smtClean="0"/>
              <a:t>Çip </a:t>
            </a:r>
            <a:r>
              <a:rPr lang="en-US" sz="2400" dirty="0" err="1" smtClean="0"/>
              <a:t>çoklu</a:t>
            </a:r>
            <a:r>
              <a:rPr lang="en-US" sz="2400" dirty="0" smtClean="0"/>
              <a:t> </a:t>
            </a:r>
            <a:r>
              <a:rPr lang="en-US" sz="2400" dirty="0" err="1"/>
              <a:t>iş</a:t>
            </a:r>
            <a:r>
              <a:rPr lang="en-US" sz="2400" dirty="0"/>
              <a:t> </a:t>
            </a:r>
            <a:r>
              <a:rPr lang="en-US" sz="2400" dirty="0" err="1"/>
              <a:t>parçacığı</a:t>
            </a:r>
            <a:r>
              <a:rPr lang="en-US" sz="2400" dirty="0"/>
              <a:t> (CMT), her </a:t>
            </a:r>
            <a:r>
              <a:rPr lang="en-US" sz="2400" dirty="0" err="1" smtClean="0"/>
              <a:t>çekirde</a:t>
            </a:r>
            <a:r>
              <a:rPr lang="tr-TR" sz="2400" dirty="0" err="1" smtClean="0"/>
              <a:t>ğe</a:t>
            </a:r>
            <a:r>
              <a:rPr lang="en-US" sz="2400" dirty="0" smtClean="0"/>
              <a:t> </a:t>
            </a:r>
            <a:r>
              <a:rPr lang="en-US" sz="2400" dirty="0" err="1"/>
              <a:t>birden</a:t>
            </a:r>
            <a:r>
              <a:rPr lang="en-US" sz="2400" dirty="0"/>
              <a:t> </a:t>
            </a:r>
            <a:r>
              <a:rPr lang="en-US" sz="2400" dirty="0" err="1"/>
              <a:t>çok</a:t>
            </a:r>
            <a:r>
              <a:rPr lang="en-US" sz="2400" dirty="0"/>
              <a:t> </a:t>
            </a:r>
            <a:r>
              <a:rPr lang="en-US" sz="2400" dirty="0" err="1"/>
              <a:t>donanım</a:t>
            </a:r>
            <a:r>
              <a:rPr lang="en-US" sz="2400" dirty="0"/>
              <a:t> </a:t>
            </a:r>
            <a:r>
              <a:rPr lang="en-US" sz="2400" dirty="0" err="1"/>
              <a:t>iş</a:t>
            </a:r>
            <a:r>
              <a:rPr lang="en-US" sz="2400" dirty="0"/>
              <a:t> </a:t>
            </a:r>
            <a:r>
              <a:rPr lang="en-US" sz="2400" dirty="0" err="1"/>
              <a:t>parçacığı</a:t>
            </a:r>
            <a:r>
              <a:rPr lang="en-US" sz="2400" dirty="0"/>
              <a:t> </a:t>
            </a:r>
            <a:r>
              <a:rPr lang="en-US" sz="2400" dirty="0" err="1"/>
              <a:t>atar</a:t>
            </a:r>
            <a:r>
              <a:rPr lang="en-US" sz="2400" dirty="0"/>
              <a:t>. (Intel </a:t>
            </a:r>
            <a:r>
              <a:rPr lang="en-US" altLang="en-US" sz="2400" b="1" dirty="0" err="1" smtClean="0"/>
              <a:t>hyperthreading</a:t>
            </a:r>
            <a:r>
              <a:rPr lang="tr-TR" altLang="en-US" sz="2400" b="1" dirty="0" smtClean="0"/>
              <a:t> </a:t>
            </a:r>
            <a:r>
              <a:rPr lang="en-US" sz="2400" dirty="0" smtClean="0"/>
              <a:t> </a:t>
            </a:r>
            <a:r>
              <a:rPr lang="en-US" sz="2400" dirty="0" err="1" smtClean="0"/>
              <a:t>olarak</a:t>
            </a:r>
            <a:r>
              <a:rPr lang="en-US" sz="2400" dirty="0" smtClean="0"/>
              <a:t> </a:t>
            </a:r>
            <a:r>
              <a:rPr lang="tr-TR" sz="2400" dirty="0" smtClean="0"/>
              <a:t>adlandırır</a:t>
            </a:r>
            <a:r>
              <a:rPr lang="en-US" sz="2400" dirty="0" smtClean="0"/>
              <a:t>)</a:t>
            </a:r>
            <a:endParaRPr lang="tr-TR" sz="2400" dirty="0" smtClean="0"/>
          </a:p>
          <a:p>
            <a:endParaRPr lang="tr-TR" sz="2400" dirty="0"/>
          </a:p>
          <a:p>
            <a:r>
              <a:rPr lang="en-US" sz="2400" dirty="0" err="1" smtClean="0"/>
              <a:t>Çekirdek</a:t>
            </a:r>
            <a:r>
              <a:rPr lang="en-US" sz="2400" dirty="0" smtClean="0"/>
              <a:t> </a:t>
            </a:r>
            <a:r>
              <a:rPr lang="en-US" sz="2400" dirty="0" err="1"/>
              <a:t>başına</a:t>
            </a:r>
            <a:r>
              <a:rPr lang="en-US" sz="2400" dirty="0"/>
              <a:t> 2 </a:t>
            </a:r>
            <a:r>
              <a:rPr lang="en-US" sz="2400" dirty="0" err="1"/>
              <a:t>donanım</a:t>
            </a:r>
            <a:r>
              <a:rPr lang="en-US" sz="2400" dirty="0"/>
              <a:t> </a:t>
            </a:r>
            <a:r>
              <a:rPr lang="en-US" sz="2400" dirty="0" err="1"/>
              <a:t>iş</a:t>
            </a:r>
            <a:r>
              <a:rPr lang="en-US" sz="2400" dirty="0"/>
              <a:t> </a:t>
            </a:r>
            <a:r>
              <a:rPr lang="en-US" sz="2400" dirty="0" err="1"/>
              <a:t>parçacığına</a:t>
            </a:r>
            <a:r>
              <a:rPr lang="en-US" sz="2400" dirty="0"/>
              <a:t> </a:t>
            </a:r>
            <a:r>
              <a:rPr lang="en-US" sz="2400" dirty="0" err="1"/>
              <a:t>sahip</a:t>
            </a:r>
            <a:r>
              <a:rPr lang="en-US" sz="2400" dirty="0"/>
              <a:t> </a:t>
            </a:r>
            <a:r>
              <a:rPr lang="en-US" sz="2400" dirty="0" err="1"/>
              <a:t>dört</a:t>
            </a:r>
            <a:r>
              <a:rPr lang="en-US" sz="2400" dirty="0"/>
              <a:t> </a:t>
            </a:r>
            <a:r>
              <a:rPr lang="en-US" sz="2400" dirty="0" err="1"/>
              <a:t>çekirdekli</a:t>
            </a:r>
            <a:r>
              <a:rPr lang="en-US" sz="2400" dirty="0"/>
              <a:t> </a:t>
            </a:r>
            <a:r>
              <a:rPr lang="en-US" sz="2400" dirty="0" err="1"/>
              <a:t>bir</a:t>
            </a:r>
            <a:r>
              <a:rPr lang="en-US" sz="2400" dirty="0"/>
              <a:t> </a:t>
            </a:r>
            <a:r>
              <a:rPr lang="en-US" sz="2400" dirty="0" err="1"/>
              <a:t>sistemde</a:t>
            </a:r>
            <a:r>
              <a:rPr lang="en-US" sz="2400" dirty="0"/>
              <a:t>, </a:t>
            </a:r>
            <a:r>
              <a:rPr lang="en-US" sz="2400" dirty="0" err="1"/>
              <a:t>işletim</a:t>
            </a:r>
            <a:r>
              <a:rPr lang="en-US" sz="2400" dirty="0"/>
              <a:t> </a:t>
            </a:r>
            <a:r>
              <a:rPr lang="en-US" sz="2400" dirty="0" err="1"/>
              <a:t>sistemi</a:t>
            </a:r>
            <a:r>
              <a:rPr lang="en-US" sz="2400" dirty="0"/>
              <a:t> 8 </a:t>
            </a:r>
            <a:r>
              <a:rPr lang="en-US" sz="2400" dirty="0" err="1"/>
              <a:t>mantıksal</a:t>
            </a:r>
            <a:r>
              <a:rPr lang="en-US" sz="2400" dirty="0"/>
              <a:t> </a:t>
            </a:r>
            <a:r>
              <a:rPr lang="en-US" sz="2400" dirty="0" err="1"/>
              <a:t>işlemci</a:t>
            </a:r>
            <a:r>
              <a:rPr lang="en-US" sz="2400" dirty="0"/>
              <a:t> </a:t>
            </a:r>
            <a:r>
              <a:rPr lang="en-US" sz="2400" dirty="0" err="1"/>
              <a:t>görür</a:t>
            </a:r>
            <a:r>
              <a:rPr lang="en-US" sz="2400" dirty="0"/>
              <a:t>.</a:t>
            </a:r>
            <a:endParaRPr lang="tr-TR" sz="2400" dirty="0"/>
          </a:p>
          <a:p>
            <a:endParaRPr lang="en-US" altLang="en-US" sz="2400" dirty="0"/>
          </a:p>
        </p:txBody>
      </p:sp>
      <p:pic>
        <p:nvPicPr>
          <p:cNvPr id="76803" name="Picture 3">
            <a:extLst>
              <a:ext uri="{FF2B5EF4-FFF2-40B4-BE49-F238E27FC236}">
                <a16:creationId xmlns:a16="http://schemas.microsoft.com/office/drawing/2014/main" xmlns=""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92485" y="1639147"/>
            <a:ext cx="4379383" cy="6338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xmlns="" id="{4B1BCE2B-FB82-4DE4-8AC5-8A0BF114B3D4}"/>
              </a:ext>
            </a:extLst>
          </p:cNvPr>
          <p:cNvSpPr>
            <a:spLocks noGrp="1"/>
          </p:cNvSpPr>
          <p:nvPr>
            <p:ph type="title"/>
          </p:nvPr>
        </p:nvSpPr>
        <p:spPr>
          <a:xfrm>
            <a:off x="2317104" y="165002"/>
            <a:ext cx="10077061" cy="768349"/>
          </a:xfrm>
        </p:spPr>
        <p:txBody>
          <a:bodyPr/>
          <a:lstStyle/>
          <a:p>
            <a:pPr eaLnBrk="1" hangingPunct="1"/>
            <a:r>
              <a:rPr lang="tr-TR" sz="3600" dirty="0"/>
              <a:t>Çoklu İş Parçacıklı Çok Çekirdekli Sistem</a:t>
            </a:r>
            <a:endParaRPr lang="en-US" altLang="en-US" sz="3600" dirty="0"/>
          </a:p>
        </p:txBody>
      </p:sp>
    </p:spTree>
    <p:extLst>
      <p:ext uri="{BB962C8B-B14F-4D97-AF65-F5344CB8AC3E}">
        <p14:creationId xmlns:p14="http://schemas.microsoft.com/office/powerpoint/2010/main" val="3711553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xmlns="" id="{72A2F406-D6BE-4B79-BE65-E498FF964134}"/>
              </a:ext>
            </a:extLst>
          </p:cNvPr>
          <p:cNvSpPr>
            <a:spLocks noGrp="1"/>
          </p:cNvSpPr>
          <p:nvPr>
            <p:ph type="title"/>
          </p:nvPr>
        </p:nvSpPr>
        <p:spPr>
          <a:xfrm>
            <a:off x="2155376" y="165002"/>
            <a:ext cx="11824784" cy="768349"/>
          </a:xfrm>
        </p:spPr>
        <p:txBody>
          <a:bodyPr/>
          <a:lstStyle/>
          <a:p>
            <a:r>
              <a:rPr lang="tr-TR" sz="4400" dirty="0"/>
              <a:t>Çoklu İş Parçacıklı Çok Çekirdekli Sistem</a:t>
            </a:r>
            <a:endParaRPr lang="en-US" altLang="en-US" sz="4400" dirty="0"/>
          </a:p>
        </p:txBody>
      </p:sp>
      <p:sp>
        <p:nvSpPr>
          <p:cNvPr id="77826" name="Content Placeholder 2">
            <a:extLst>
              <a:ext uri="{FF2B5EF4-FFF2-40B4-BE49-F238E27FC236}">
                <a16:creationId xmlns:a16="http://schemas.microsoft.com/office/drawing/2014/main" xmlns="" id="{1282DD5F-B7F7-4A28-B908-F260F89F83FA}"/>
              </a:ext>
            </a:extLst>
          </p:cNvPr>
          <p:cNvSpPr>
            <a:spLocks noGrp="1"/>
          </p:cNvSpPr>
          <p:nvPr>
            <p:ph idx="1"/>
          </p:nvPr>
        </p:nvSpPr>
        <p:spPr>
          <a:xfrm>
            <a:off x="1417321" y="1680634"/>
            <a:ext cx="4608832" cy="6040967"/>
          </a:xfrm>
        </p:spPr>
        <p:txBody>
          <a:bodyPr/>
          <a:lstStyle/>
          <a:p>
            <a:r>
              <a:rPr lang="en-US" sz="2400" dirty="0" err="1" smtClean="0"/>
              <a:t>İki</a:t>
            </a:r>
            <a:r>
              <a:rPr lang="en-US" sz="2400" dirty="0" smtClean="0"/>
              <a:t> </a:t>
            </a:r>
            <a:r>
              <a:rPr lang="tr-TR" sz="2400" dirty="0" smtClean="0"/>
              <a:t>sıralama </a:t>
            </a:r>
            <a:r>
              <a:rPr lang="en-US" sz="2400" dirty="0" err="1" smtClean="0"/>
              <a:t>düzeyi</a:t>
            </a:r>
            <a:r>
              <a:rPr lang="en-US" sz="2400" dirty="0"/>
              <a:t>: </a:t>
            </a:r>
            <a:endParaRPr lang="tr-TR" sz="2400" dirty="0" smtClean="0"/>
          </a:p>
          <a:p>
            <a:pPr marL="1109662" lvl="1" indent="-457200">
              <a:buFont typeface="+mj-lt"/>
              <a:buAutoNum type="arabicPeriod"/>
            </a:pPr>
            <a:r>
              <a:rPr lang="en-US" sz="2400" dirty="0" err="1" smtClean="0"/>
              <a:t>Işletim</a:t>
            </a:r>
            <a:r>
              <a:rPr lang="en-US" sz="2400" dirty="0" smtClean="0"/>
              <a:t> </a:t>
            </a:r>
            <a:r>
              <a:rPr lang="en-US" sz="2400" dirty="0" err="1" smtClean="0"/>
              <a:t>sistemi</a:t>
            </a:r>
            <a:r>
              <a:rPr lang="en-US" sz="2400" dirty="0" smtClean="0"/>
              <a:t> </a:t>
            </a:r>
            <a:r>
              <a:rPr lang="en-US" sz="2400" dirty="0" err="1" smtClean="0"/>
              <a:t>mantiksal</a:t>
            </a:r>
            <a:r>
              <a:rPr lang="en-US" sz="2400" dirty="0" smtClean="0"/>
              <a:t> </a:t>
            </a:r>
            <a:r>
              <a:rPr lang="en-US" sz="2400" dirty="0" err="1" smtClean="0"/>
              <a:t>CPU'da</a:t>
            </a:r>
            <a:r>
              <a:rPr lang="en-US" sz="2400" dirty="0" smtClean="0"/>
              <a:t> </a:t>
            </a:r>
            <a:r>
              <a:rPr lang="en-US" sz="2400" dirty="0" err="1"/>
              <a:t>hangi</a:t>
            </a:r>
            <a:r>
              <a:rPr lang="en-US" sz="2400" dirty="0"/>
              <a:t> </a:t>
            </a:r>
            <a:r>
              <a:rPr lang="en-US" sz="2400" dirty="0" err="1"/>
              <a:t>yazılım</a:t>
            </a:r>
            <a:r>
              <a:rPr lang="en-US" sz="2400" dirty="0"/>
              <a:t> </a:t>
            </a:r>
            <a:r>
              <a:rPr lang="en-US" sz="2400" dirty="0" err="1"/>
              <a:t>iş</a:t>
            </a:r>
            <a:r>
              <a:rPr lang="en-US" sz="2400" dirty="0"/>
              <a:t> </a:t>
            </a:r>
            <a:r>
              <a:rPr lang="en-US" sz="2400" dirty="0" err="1"/>
              <a:t>parçacığının</a:t>
            </a:r>
            <a:r>
              <a:rPr lang="en-US" sz="2400" dirty="0"/>
              <a:t> </a:t>
            </a:r>
            <a:r>
              <a:rPr lang="en-US" sz="2400" dirty="0" err="1"/>
              <a:t>çalıştırılacağına</a:t>
            </a:r>
            <a:r>
              <a:rPr lang="en-US" sz="2400" dirty="0"/>
              <a:t> </a:t>
            </a:r>
            <a:r>
              <a:rPr lang="en-US" sz="2400" dirty="0" err="1"/>
              <a:t>karar</a:t>
            </a:r>
            <a:r>
              <a:rPr lang="en-US" sz="2400" dirty="0"/>
              <a:t> </a:t>
            </a:r>
            <a:r>
              <a:rPr lang="en-US" sz="2400" dirty="0" err="1" smtClean="0"/>
              <a:t>ver</a:t>
            </a:r>
            <a:r>
              <a:rPr lang="tr-TR" sz="2400" dirty="0" smtClean="0"/>
              <a:t>ir</a:t>
            </a:r>
          </a:p>
          <a:p>
            <a:pPr marL="1109662" lvl="1" indent="-457200">
              <a:buFont typeface="+mj-lt"/>
              <a:buAutoNum type="arabicPeriod"/>
            </a:pPr>
            <a:endParaRPr lang="tr-TR" sz="2400" dirty="0" smtClean="0"/>
          </a:p>
          <a:p>
            <a:pPr marL="1109662" lvl="1" indent="-457200">
              <a:buFont typeface="+mj-lt"/>
              <a:buAutoNum type="arabicPeriod"/>
            </a:pPr>
            <a:r>
              <a:rPr lang="en-US" sz="2400" dirty="0" smtClean="0"/>
              <a:t>Her </a:t>
            </a:r>
            <a:r>
              <a:rPr lang="en-US" sz="2400" dirty="0" err="1"/>
              <a:t>çekirdek</a:t>
            </a:r>
            <a:r>
              <a:rPr lang="en-US" sz="2400" dirty="0"/>
              <a:t>, </a:t>
            </a:r>
            <a:r>
              <a:rPr lang="en-US" sz="2400" dirty="0" err="1"/>
              <a:t>fiziksel</a:t>
            </a:r>
            <a:r>
              <a:rPr lang="en-US" sz="2400" dirty="0"/>
              <a:t> </a:t>
            </a:r>
            <a:r>
              <a:rPr lang="en-US" sz="2400" dirty="0" err="1"/>
              <a:t>çekirdekte</a:t>
            </a:r>
            <a:r>
              <a:rPr lang="en-US" sz="2400" dirty="0"/>
              <a:t> </a:t>
            </a:r>
            <a:r>
              <a:rPr lang="en-US" sz="2400" dirty="0" err="1"/>
              <a:t>hangi</a:t>
            </a:r>
            <a:r>
              <a:rPr lang="en-US" sz="2400" dirty="0"/>
              <a:t> </a:t>
            </a:r>
            <a:r>
              <a:rPr lang="en-US" sz="2400" dirty="0" err="1"/>
              <a:t>donanım</a:t>
            </a:r>
            <a:r>
              <a:rPr lang="en-US" sz="2400" dirty="0"/>
              <a:t> </a:t>
            </a:r>
            <a:r>
              <a:rPr lang="en-US" sz="2400" dirty="0" err="1"/>
              <a:t>iş</a:t>
            </a:r>
            <a:r>
              <a:rPr lang="en-US" sz="2400" dirty="0"/>
              <a:t> </a:t>
            </a:r>
            <a:r>
              <a:rPr lang="en-US" sz="2400" dirty="0" err="1"/>
              <a:t>parçacığının</a:t>
            </a:r>
            <a:r>
              <a:rPr lang="en-US" sz="2400" dirty="0"/>
              <a:t> </a:t>
            </a:r>
            <a:r>
              <a:rPr lang="en-US" sz="2400" dirty="0" err="1"/>
              <a:t>çalıştırılacağına</a:t>
            </a:r>
            <a:r>
              <a:rPr lang="en-US" sz="2400" dirty="0"/>
              <a:t> </a:t>
            </a:r>
            <a:r>
              <a:rPr lang="en-US" sz="2400" dirty="0" err="1" smtClean="0"/>
              <a:t>karar</a:t>
            </a:r>
            <a:r>
              <a:rPr lang="en-US" sz="2400" dirty="0" smtClean="0"/>
              <a:t> </a:t>
            </a:r>
            <a:r>
              <a:rPr lang="en-US" sz="2400" dirty="0" err="1" smtClean="0"/>
              <a:t>verir</a:t>
            </a:r>
            <a:r>
              <a:rPr lang="en-US" altLang="en-US" sz="2400" dirty="0"/>
              <a:t/>
            </a:r>
            <a:br>
              <a:rPr lang="en-US" altLang="en-US" sz="2400" dirty="0"/>
            </a:br>
            <a:r>
              <a:rPr lang="en-US" altLang="en-US" sz="2400" dirty="0"/>
              <a:t/>
            </a:r>
            <a:br>
              <a:rPr lang="en-US" altLang="en-US" sz="2400" dirty="0"/>
            </a:br>
            <a:r>
              <a:rPr lang="en-US" altLang="en-US" sz="2400" dirty="0"/>
              <a:t/>
            </a:r>
            <a:br>
              <a:rPr lang="en-US" altLang="en-US" sz="2400" dirty="0"/>
            </a:br>
            <a:endParaRPr lang="en-US" altLang="en-US" sz="2400" dirty="0"/>
          </a:p>
        </p:txBody>
      </p:sp>
      <p:pic>
        <p:nvPicPr>
          <p:cNvPr id="77827" name="Picture 4">
            <a:extLst>
              <a:ext uri="{FF2B5EF4-FFF2-40B4-BE49-F238E27FC236}">
                <a16:creationId xmlns:a16="http://schemas.microsoft.com/office/drawing/2014/main" xmlns=""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26151" y="1587501"/>
            <a:ext cx="6783916" cy="527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2254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xmlns="" id="{54839094-C3D3-496D-831C-D61F7F14A2B2}"/>
              </a:ext>
            </a:extLst>
          </p:cNvPr>
          <p:cNvSpPr>
            <a:spLocks noGrp="1" noChangeArrowheads="1"/>
          </p:cNvSpPr>
          <p:nvPr>
            <p:ph type="title"/>
          </p:nvPr>
        </p:nvSpPr>
        <p:spPr>
          <a:xfrm>
            <a:off x="2196016" y="162560"/>
            <a:ext cx="10556032" cy="755083"/>
          </a:xfrm>
        </p:spPr>
        <p:txBody>
          <a:bodyPr/>
          <a:lstStyle/>
          <a:p>
            <a:pPr eaLnBrk="1" hangingPunct="1"/>
            <a:r>
              <a:rPr lang="en-US" altLang="en-US" sz="3200" dirty="0"/>
              <a:t>Multiple-Processor Scheduling – Load Balancing</a:t>
            </a:r>
          </a:p>
        </p:txBody>
      </p:sp>
      <p:sp>
        <p:nvSpPr>
          <p:cNvPr id="78850" name="Rectangle 3">
            <a:extLst>
              <a:ext uri="{FF2B5EF4-FFF2-40B4-BE49-F238E27FC236}">
                <a16:creationId xmlns:a16="http://schemas.microsoft.com/office/drawing/2014/main" xmlns="" id="{820781A6-111F-4348-AA18-D0475B89840C}"/>
              </a:ext>
            </a:extLst>
          </p:cNvPr>
          <p:cNvSpPr>
            <a:spLocks noGrp="1" noChangeArrowheads="1"/>
          </p:cNvSpPr>
          <p:nvPr>
            <p:ph type="body" idx="1"/>
          </p:nvPr>
        </p:nvSpPr>
        <p:spPr>
          <a:xfrm>
            <a:off x="1782146" y="1373719"/>
            <a:ext cx="9600441" cy="6266603"/>
          </a:xfrm>
        </p:spPr>
        <p:txBody>
          <a:bodyPr/>
          <a:lstStyle/>
          <a:p>
            <a:r>
              <a:rPr lang="en-US" smtClean="0"/>
              <a:t>SMP </a:t>
            </a:r>
            <a:r>
              <a:rPr lang="en-US" dirty="0" err="1"/>
              <a:t>ise</a:t>
            </a:r>
            <a:r>
              <a:rPr lang="en-US" dirty="0"/>
              <a:t>, </a:t>
            </a:r>
            <a:r>
              <a:rPr lang="en-US" dirty="0" err="1"/>
              <a:t>verimlilik</a:t>
            </a:r>
            <a:r>
              <a:rPr lang="en-US" dirty="0"/>
              <a:t> </a:t>
            </a:r>
            <a:r>
              <a:rPr lang="en-US" dirty="0" err="1"/>
              <a:t>için</a:t>
            </a:r>
            <a:r>
              <a:rPr lang="en-US" dirty="0"/>
              <a:t> </a:t>
            </a:r>
            <a:r>
              <a:rPr lang="en-US" dirty="0" err="1"/>
              <a:t>tüm</a:t>
            </a:r>
            <a:r>
              <a:rPr lang="en-US" dirty="0"/>
              <a:t> </a:t>
            </a:r>
            <a:r>
              <a:rPr lang="en-US" dirty="0" err="1"/>
              <a:t>CPU'ları</a:t>
            </a:r>
            <a:r>
              <a:rPr lang="en-US" dirty="0"/>
              <a:t> </a:t>
            </a:r>
            <a:r>
              <a:rPr lang="en-US" dirty="0" err="1"/>
              <a:t>yüklü</a:t>
            </a:r>
            <a:r>
              <a:rPr lang="en-US" dirty="0"/>
              <a:t> </a:t>
            </a:r>
            <a:r>
              <a:rPr lang="en-US" dirty="0" err="1"/>
              <a:t>tutmanız</a:t>
            </a:r>
            <a:r>
              <a:rPr lang="en-US" dirty="0"/>
              <a:t> </a:t>
            </a:r>
            <a:r>
              <a:rPr lang="en-US" dirty="0" err="1"/>
              <a:t>gerekir</a:t>
            </a:r>
            <a:r>
              <a:rPr lang="en-US" dirty="0"/>
              <a:t> </a:t>
            </a:r>
            <a:r>
              <a:rPr lang="en-US" dirty="0" err="1"/>
              <a:t>Yük</a:t>
            </a:r>
            <a:r>
              <a:rPr lang="en-US" dirty="0"/>
              <a:t> </a:t>
            </a:r>
            <a:r>
              <a:rPr lang="en-US" dirty="0" err="1"/>
              <a:t>dengeleme</a:t>
            </a:r>
            <a:r>
              <a:rPr lang="en-US" dirty="0"/>
              <a:t>, </a:t>
            </a:r>
            <a:r>
              <a:rPr lang="en-US" dirty="0" err="1"/>
              <a:t>iş</a:t>
            </a:r>
            <a:r>
              <a:rPr lang="en-US" dirty="0"/>
              <a:t> </a:t>
            </a:r>
            <a:r>
              <a:rPr lang="en-US" dirty="0" err="1"/>
              <a:t>yükünü</a:t>
            </a:r>
            <a:r>
              <a:rPr lang="en-US" dirty="0"/>
              <a:t> </a:t>
            </a:r>
            <a:r>
              <a:rPr lang="en-US" dirty="0" err="1"/>
              <a:t>eşit</a:t>
            </a:r>
            <a:r>
              <a:rPr lang="en-US" dirty="0"/>
              <a:t> </a:t>
            </a:r>
            <a:r>
              <a:rPr lang="en-US" dirty="0" err="1"/>
              <a:t>şekilde</a:t>
            </a:r>
            <a:r>
              <a:rPr lang="en-US" dirty="0"/>
              <a:t> </a:t>
            </a:r>
            <a:r>
              <a:rPr lang="en-US" dirty="0" err="1"/>
              <a:t>dağıtılmış</a:t>
            </a:r>
            <a:r>
              <a:rPr lang="en-US" dirty="0"/>
              <a:t> </a:t>
            </a:r>
            <a:r>
              <a:rPr lang="en-US" dirty="0" err="1"/>
              <a:t>tutma</a:t>
            </a:r>
            <a:r>
              <a:rPr lang="en-US" dirty="0"/>
              <a:t> </a:t>
            </a:r>
            <a:r>
              <a:rPr lang="en-US" dirty="0" err="1"/>
              <a:t>girişimleri</a:t>
            </a:r>
            <a:r>
              <a:rPr lang="en-US" dirty="0"/>
              <a:t> </a:t>
            </a:r>
            <a:r>
              <a:rPr lang="en-US" dirty="0" err="1"/>
              <a:t>İtme</a:t>
            </a:r>
            <a:r>
              <a:rPr lang="en-US" dirty="0"/>
              <a:t> </a:t>
            </a:r>
            <a:r>
              <a:rPr lang="en-US" dirty="0" err="1"/>
              <a:t>geçişi</a:t>
            </a:r>
            <a:r>
              <a:rPr lang="en-US" dirty="0"/>
              <a:t> - </a:t>
            </a:r>
            <a:r>
              <a:rPr lang="en-US" dirty="0" err="1"/>
              <a:t>periyodik</a:t>
            </a:r>
            <a:r>
              <a:rPr lang="en-US" dirty="0"/>
              <a:t> </a:t>
            </a:r>
            <a:r>
              <a:rPr lang="en-US" dirty="0" err="1"/>
              <a:t>görev</a:t>
            </a:r>
            <a:r>
              <a:rPr lang="en-US" dirty="0"/>
              <a:t> her </a:t>
            </a:r>
            <a:r>
              <a:rPr lang="en-US" dirty="0" err="1"/>
              <a:t>işlemciye</a:t>
            </a:r>
            <a:r>
              <a:rPr lang="en-US" dirty="0"/>
              <a:t> </a:t>
            </a:r>
            <a:r>
              <a:rPr lang="en-US" dirty="0" err="1"/>
              <a:t>yük</a:t>
            </a:r>
            <a:r>
              <a:rPr lang="en-US" dirty="0"/>
              <a:t> </a:t>
            </a:r>
            <a:r>
              <a:rPr lang="en-US" dirty="0" err="1"/>
              <a:t>bindirme</a:t>
            </a:r>
            <a:r>
              <a:rPr lang="en-US" dirty="0"/>
              <a:t> </a:t>
            </a:r>
            <a:r>
              <a:rPr lang="en-US" dirty="0" err="1"/>
              <a:t>sağlar</a:t>
            </a:r>
            <a:r>
              <a:rPr lang="en-US" dirty="0"/>
              <a:t> </a:t>
            </a:r>
            <a:r>
              <a:rPr lang="en-US" dirty="0" err="1"/>
              <a:t>ve</a:t>
            </a:r>
            <a:r>
              <a:rPr lang="en-US" dirty="0"/>
              <a:t> </a:t>
            </a:r>
            <a:r>
              <a:rPr lang="en-US" dirty="0" err="1"/>
              <a:t>bulunursa</a:t>
            </a:r>
            <a:r>
              <a:rPr lang="en-US" dirty="0"/>
              <a:t> </a:t>
            </a:r>
            <a:r>
              <a:rPr lang="en-US" dirty="0" err="1"/>
              <a:t>görevi</a:t>
            </a:r>
            <a:r>
              <a:rPr lang="en-US" dirty="0"/>
              <a:t> </a:t>
            </a:r>
            <a:r>
              <a:rPr lang="en-US" dirty="0" err="1"/>
              <a:t>aşırı</a:t>
            </a:r>
            <a:r>
              <a:rPr lang="en-US" dirty="0"/>
              <a:t> </a:t>
            </a:r>
            <a:r>
              <a:rPr lang="en-US" dirty="0" err="1"/>
              <a:t>yüklenmiş</a:t>
            </a:r>
            <a:r>
              <a:rPr lang="en-US" dirty="0"/>
              <a:t> </a:t>
            </a:r>
            <a:r>
              <a:rPr lang="en-US" dirty="0" err="1"/>
              <a:t>CPU'dan</a:t>
            </a:r>
            <a:r>
              <a:rPr lang="en-US" dirty="0"/>
              <a:t> </a:t>
            </a:r>
            <a:r>
              <a:rPr lang="en-US" dirty="0" err="1"/>
              <a:t>diğer</a:t>
            </a:r>
            <a:r>
              <a:rPr lang="en-US" dirty="0"/>
              <a:t> </a:t>
            </a:r>
            <a:r>
              <a:rPr lang="en-US" dirty="0" err="1"/>
              <a:t>CPU'lara</a:t>
            </a:r>
            <a:r>
              <a:rPr lang="en-US" dirty="0"/>
              <a:t> </a:t>
            </a:r>
            <a:r>
              <a:rPr lang="en-US" dirty="0" err="1"/>
              <a:t>iter</a:t>
            </a:r>
            <a:r>
              <a:rPr lang="en-US" dirty="0"/>
              <a:t> </a:t>
            </a:r>
            <a:r>
              <a:rPr lang="en-US" dirty="0" err="1"/>
              <a:t>Çekme</a:t>
            </a:r>
            <a:r>
              <a:rPr lang="en-US" dirty="0"/>
              <a:t> </a:t>
            </a:r>
            <a:r>
              <a:rPr lang="en-US" dirty="0" err="1"/>
              <a:t>geçişi</a:t>
            </a:r>
            <a:r>
              <a:rPr lang="en-US" dirty="0"/>
              <a:t> - </a:t>
            </a:r>
            <a:r>
              <a:rPr lang="en-US" dirty="0" err="1"/>
              <a:t>boşta</a:t>
            </a:r>
            <a:r>
              <a:rPr lang="en-US" dirty="0"/>
              <a:t> </a:t>
            </a:r>
            <a:r>
              <a:rPr lang="en-US" dirty="0" err="1"/>
              <a:t>kalan</a:t>
            </a:r>
            <a:r>
              <a:rPr lang="en-US" dirty="0"/>
              <a:t> </a:t>
            </a:r>
            <a:r>
              <a:rPr lang="en-US" dirty="0" err="1"/>
              <a:t>işlemciler</a:t>
            </a:r>
            <a:r>
              <a:rPr lang="en-US" dirty="0"/>
              <a:t> </a:t>
            </a:r>
            <a:r>
              <a:rPr lang="en-US" dirty="0" err="1"/>
              <a:t>bekleme</a:t>
            </a:r>
            <a:r>
              <a:rPr lang="en-US" dirty="0"/>
              <a:t> </a:t>
            </a:r>
            <a:r>
              <a:rPr lang="en-US" dirty="0" err="1"/>
              <a:t>görevini</a:t>
            </a:r>
            <a:r>
              <a:rPr lang="en-US" dirty="0"/>
              <a:t> </a:t>
            </a:r>
            <a:r>
              <a:rPr lang="en-US" dirty="0" err="1"/>
              <a:t>meşgul</a:t>
            </a:r>
            <a:r>
              <a:rPr lang="en-US" dirty="0"/>
              <a:t> </a:t>
            </a:r>
            <a:r>
              <a:rPr lang="en-US" dirty="0" err="1"/>
              <a:t>işlemciden</a:t>
            </a:r>
            <a:r>
              <a:rPr lang="en-US" dirty="0"/>
              <a:t> </a:t>
            </a:r>
            <a:r>
              <a:rPr lang="en-US" dirty="0" err="1"/>
              <a:t>çeker</a:t>
            </a:r>
            <a:endParaRPr lang="tr-TR" dirty="0"/>
          </a:p>
          <a:p>
            <a:endParaRPr lang="en-US" altLang="en-US" sz="1067" dirty="0"/>
          </a:p>
        </p:txBody>
      </p:sp>
    </p:spTree>
    <p:extLst>
      <p:ext uri="{BB962C8B-B14F-4D97-AF65-F5344CB8AC3E}">
        <p14:creationId xmlns:p14="http://schemas.microsoft.com/office/powerpoint/2010/main" val="1996227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xmlns="" id="{4A39CD83-8114-4F93-99FA-773F54549A49}"/>
              </a:ext>
            </a:extLst>
          </p:cNvPr>
          <p:cNvSpPr>
            <a:spLocks noGrp="1" noChangeArrowheads="1"/>
          </p:cNvSpPr>
          <p:nvPr>
            <p:ph type="title"/>
          </p:nvPr>
        </p:nvSpPr>
        <p:spPr>
          <a:xfrm>
            <a:off x="2071371" y="189653"/>
            <a:ext cx="11004548" cy="714443"/>
          </a:xfrm>
        </p:spPr>
        <p:txBody>
          <a:bodyPr/>
          <a:lstStyle/>
          <a:p>
            <a:pPr eaLnBrk="1" hangingPunct="1"/>
            <a:r>
              <a:rPr lang="en-US" altLang="en-US" sz="3200" dirty="0"/>
              <a:t>Multiple-Processor Scheduling – Processor Affinity</a:t>
            </a:r>
          </a:p>
        </p:txBody>
      </p:sp>
      <p:sp>
        <p:nvSpPr>
          <p:cNvPr id="80898" name="Rectangle 3">
            <a:extLst>
              <a:ext uri="{FF2B5EF4-FFF2-40B4-BE49-F238E27FC236}">
                <a16:creationId xmlns:a16="http://schemas.microsoft.com/office/drawing/2014/main" xmlns="" id="{94EFBBBE-DEF2-46B3-983A-153F37FA81BA}"/>
              </a:ext>
            </a:extLst>
          </p:cNvPr>
          <p:cNvSpPr>
            <a:spLocks noGrp="1" noChangeArrowheads="1"/>
          </p:cNvSpPr>
          <p:nvPr>
            <p:ph type="body" idx="1"/>
          </p:nvPr>
        </p:nvSpPr>
        <p:spPr>
          <a:xfrm>
            <a:off x="1794589" y="1427905"/>
            <a:ext cx="10350759" cy="6411383"/>
          </a:xfrm>
        </p:spPr>
        <p:txBody>
          <a:bodyPr/>
          <a:lstStyle/>
          <a:p>
            <a:r>
              <a:rPr lang="en-US" altLang="en-US" dirty="0"/>
              <a:t>When a thread has been running on one processor, the cache contents of that processor stores the memory accesses by that thread.</a:t>
            </a:r>
          </a:p>
          <a:p>
            <a:r>
              <a:rPr lang="en-US" altLang="en-US" dirty="0"/>
              <a:t>We refer to this as a thread having affinity for a processor (i.e., “processor affinity”)</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b="1" dirty="0"/>
              <a:t>Soft affinity </a:t>
            </a:r>
            <a:r>
              <a:rPr lang="en-US" altLang="en-US" dirty="0"/>
              <a:t>– the operating system attempts to keep a thread running on the same processor, but no guarantees.</a:t>
            </a:r>
          </a:p>
          <a:p>
            <a:r>
              <a:rPr lang="en-US" altLang="en-US" b="1" dirty="0"/>
              <a:t>Hard affinity </a:t>
            </a:r>
            <a:r>
              <a:rPr lang="en-US" altLang="en-US" dirty="0"/>
              <a:t>– allows a process to specify a set of processors it may run on.</a:t>
            </a:r>
          </a:p>
          <a:p>
            <a:endParaRPr lang="en-US" altLang="en-US" sz="1067" dirty="0"/>
          </a:p>
        </p:txBody>
      </p:sp>
    </p:spTree>
    <p:extLst>
      <p:ext uri="{BB962C8B-B14F-4D97-AF65-F5344CB8AC3E}">
        <p14:creationId xmlns:p14="http://schemas.microsoft.com/office/powerpoint/2010/main" val="1170115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a:xfrm>
            <a:off x="1679575" y="369888"/>
            <a:ext cx="11350625" cy="768350"/>
          </a:xfrm>
        </p:spPr>
        <p:txBody>
          <a:bodyPr/>
          <a:lstStyle/>
          <a:p>
            <a:pPr eaLnBrk="1" hangingPunct="1"/>
            <a:r>
              <a:rPr lang="en-US" dirty="0" smtClean="0"/>
              <a:t>NUMA </a:t>
            </a:r>
            <a:r>
              <a:rPr lang="tr-TR" dirty="0" smtClean="0"/>
              <a:t>ve </a:t>
            </a:r>
            <a:r>
              <a:rPr lang="en-US" dirty="0" smtClean="0"/>
              <a:t>CPU </a:t>
            </a:r>
            <a:r>
              <a:rPr lang="tr-TR" dirty="0" smtClean="0"/>
              <a:t>İş Sıralama </a:t>
            </a:r>
            <a:endParaRPr lang="en-US" dirty="0" smtClean="0"/>
          </a:p>
        </p:txBody>
      </p:sp>
      <p:pic>
        <p:nvPicPr>
          <p:cNvPr id="84995" name="Picture 4" descr="5"/>
          <p:cNvPicPr>
            <a:picLocks noChangeAspect="1" noChangeArrowheads="1"/>
          </p:cNvPicPr>
          <p:nvPr/>
        </p:nvPicPr>
        <p:blipFill>
          <a:blip r:embed="rId3"/>
          <a:srcRect/>
          <a:stretch>
            <a:fillRect/>
          </a:stretch>
        </p:blipFill>
        <p:spPr bwMode="auto">
          <a:xfrm>
            <a:off x="2743200" y="2641600"/>
            <a:ext cx="8747125" cy="4159250"/>
          </a:xfrm>
          <a:prstGeom prst="rect">
            <a:avLst/>
          </a:prstGeom>
          <a:noFill/>
          <a:ln w="9525">
            <a:noFill/>
            <a:miter lim="800000"/>
            <a:headEnd/>
            <a:tailEnd/>
          </a:ln>
        </p:spPr>
      </p:pic>
      <p:sp>
        <p:nvSpPr>
          <p:cNvPr id="84996" name="TextBox 3"/>
          <p:cNvSpPr txBox="1">
            <a:spLocks noChangeArrowheads="1"/>
          </p:cNvSpPr>
          <p:nvPr/>
        </p:nvSpPr>
        <p:spPr bwMode="auto">
          <a:xfrm>
            <a:off x="3062288" y="7265988"/>
            <a:ext cx="7115175" cy="685895"/>
          </a:xfrm>
          <a:prstGeom prst="rect">
            <a:avLst/>
          </a:prstGeom>
          <a:noFill/>
          <a:ln w="9525">
            <a:noFill/>
            <a:miter lim="800000"/>
            <a:headEnd/>
            <a:tailEnd/>
          </a:ln>
        </p:spPr>
        <p:txBody>
          <a:bodyPr lIns="130622" tIns="65311" rIns="130622" bIns="65311">
            <a:spAutoFit/>
          </a:bodyPr>
          <a:lstStyle/>
          <a:p>
            <a:r>
              <a:rPr lang="tr-TR" dirty="0" smtClean="0"/>
              <a:t>Bellek yerleşim algoritmalarının da CPU ilişkisini(</a:t>
            </a:r>
            <a:r>
              <a:rPr lang="en-US" dirty="0" smtClean="0"/>
              <a:t>affinity</a:t>
            </a:r>
            <a:r>
              <a:rPr lang="tr-TR" dirty="0" smtClean="0"/>
              <a:t>) göz önünde bulundurduğuna dikkat ediniz  </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tr-TR" dirty="0" smtClean="0"/>
              <a:t>Sanallaştırma ve İş Sıralama </a:t>
            </a:r>
            <a:endParaRPr lang="en-US" dirty="0" smtClean="0"/>
          </a:p>
        </p:txBody>
      </p:sp>
      <p:sp>
        <p:nvSpPr>
          <p:cNvPr id="91139" name="Content Placeholder 2"/>
          <p:cNvSpPr>
            <a:spLocks noGrp="1"/>
          </p:cNvSpPr>
          <p:nvPr>
            <p:ph idx="1"/>
          </p:nvPr>
        </p:nvSpPr>
        <p:spPr/>
        <p:txBody>
          <a:bodyPr/>
          <a:lstStyle/>
          <a:p>
            <a:r>
              <a:rPr lang="tr-TR" sz="2400" dirty="0" smtClean="0"/>
              <a:t>Sanallaştırma yazılımı birden fazla konuğu CPU üzerine programlar  </a:t>
            </a:r>
            <a:endParaRPr lang="en-US" sz="2400" dirty="0" smtClean="0"/>
          </a:p>
          <a:p>
            <a:endParaRPr lang="en-US" sz="2400" dirty="0" smtClean="0"/>
          </a:p>
          <a:p>
            <a:r>
              <a:rPr lang="tr-TR" sz="2400" dirty="0" smtClean="0"/>
              <a:t>Her bir konuk kendi iş sıralama işlemini yapar  </a:t>
            </a:r>
            <a:endParaRPr lang="en-US" sz="2400" dirty="0" smtClean="0"/>
          </a:p>
          <a:p>
            <a:pPr lvl="1"/>
            <a:r>
              <a:rPr lang="tr-TR" sz="2400" dirty="0" smtClean="0"/>
              <a:t>CPU’ ya sahip olup olmadığını bilmeyerek  </a:t>
            </a:r>
            <a:endParaRPr lang="en-US" sz="2400" dirty="0" smtClean="0"/>
          </a:p>
          <a:p>
            <a:pPr lvl="1"/>
            <a:r>
              <a:rPr lang="tr-TR" sz="2400" dirty="0" smtClean="0"/>
              <a:t>Düşük bir cevap zamanına neden olabilir  </a:t>
            </a:r>
            <a:endParaRPr lang="en-US" sz="2400" dirty="0" smtClean="0"/>
          </a:p>
          <a:p>
            <a:pPr lvl="1"/>
            <a:r>
              <a:rPr lang="tr-TR" sz="2400" dirty="0" smtClean="0"/>
              <a:t>Konukların güncel zamanları etkilenebilir  </a:t>
            </a:r>
            <a:endParaRPr lang="en-US" sz="2400" dirty="0" smtClean="0"/>
          </a:p>
          <a:p>
            <a:pPr lvl="1"/>
            <a:endParaRPr lang="en-US" sz="2400" dirty="0" smtClean="0"/>
          </a:p>
          <a:p>
            <a:r>
              <a:rPr lang="tr-TR" sz="2400" dirty="0" smtClean="0"/>
              <a:t>Konukların iyi iş sıralama algoritması çabalarını telafi edebilir   </a:t>
            </a:r>
            <a:endParaRPr lang="en-US" sz="24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708150" y="369888"/>
            <a:ext cx="11322050" cy="768350"/>
          </a:xfrm>
        </p:spPr>
        <p:txBody>
          <a:bodyPr/>
          <a:lstStyle/>
          <a:p>
            <a:pPr eaLnBrk="1" hangingPunct="1"/>
            <a:r>
              <a:rPr lang="tr-TR" dirty="0" smtClean="0"/>
              <a:t>İşletim Sistemi Örnekleri  </a:t>
            </a:r>
            <a:endParaRPr lang="en-US" dirty="0" smtClean="0"/>
          </a:p>
        </p:txBody>
      </p:sp>
      <p:sp>
        <p:nvSpPr>
          <p:cNvPr id="92163" name="Rectangle 3"/>
          <p:cNvSpPr>
            <a:spLocks noGrp="1" noChangeArrowheads="1"/>
          </p:cNvSpPr>
          <p:nvPr>
            <p:ph type="body" idx="1"/>
          </p:nvPr>
        </p:nvSpPr>
        <p:spPr>
          <a:xfrm>
            <a:off x="1133475" y="1479550"/>
            <a:ext cx="10266363" cy="4678363"/>
          </a:xfrm>
        </p:spPr>
        <p:txBody>
          <a:bodyPr/>
          <a:lstStyle/>
          <a:p>
            <a:endParaRPr lang="en-US" sz="2400" dirty="0" smtClean="0"/>
          </a:p>
          <a:p>
            <a:r>
              <a:rPr lang="en-US" sz="2400" dirty="0" smtClean="0"/>
              <a:t>Solaris </a:t>
            </a:r>
            <a:r>
              <a:rPr lang="tr-TR" sz="2400" dirty="0" smtClean="0"/>
              <a:t>iş sıralama </a:t>
            </a:r>
            <a:endParaRPr lang="en-US" sz="2400" dirty="0" smtClean="0"/>
          </a:p>
          <a:p>
            <a:r>
              <a:rPr lang="en-US" sz="2400" dirty="0" smtClean="0"/>
              <a:t>Windows XP </a:t>
            </a:r>
            <a:r>
              <a:rPr lang="tr-TR" sz="2400" dirty="0"/>
              <a:t>iş sıralama </a:t>
            </a:r>
            <a:endParaRPr lang="en-US" sz="2400" dirty="0" smtClean="0"/>
          </a:p>
          <a:p>
            <a:r>
              <a:rPr lang="en-US" sz="2400" dirty="0" smtClean="0"/>
              <a:t>Linux </a:t>
            </a:r>
            <a:r>
              <a:rPr lang="tr-TR" sz="2400" dirty="0"/>
              <a:t>iş sıralama </a:t>
            </a:r>
            <a:endParaRPr lang="en-US" sz="2400" dirty="0"/>
          </a:p>
          <a:p>
            <a:endParaRPr lang="en-US" sz="24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smtClean="0"/>
              <a:t>Solaris</a:t>
            </a:r>
          </a:p>
        </p:txBody>
      </p:sp>
      <p:sp>
        <p:nvSpPr>
          <p:cNvPr id="94211" name="Content Placeholder 2"/>
          <p:cNvSpPr>
            <a:spLocks noGrp="1"/>
          </p:cNvSpPr>
          <p:nvPr>
            <p:ph idx="1"/>
          </p:nvPr>
        </p:nvSpPr>
        <p:spPr/>
        <p:txBody>
          <a:bodyPr/>
          <a:lstStyle/>
          <a:p>
            <a:r>
              <a:rPr lang="tr-TR" sz="2400" dirty="0" smtClean="0"/>
              <a:t>Öncelik tabanlı iş sıralama </a:t>
            </a:r>
            <a:endParaRPr lang="en-US" sz="2400" dirty="0" smtClean="0"/>
          </a:p>
          <a:p>
            <a:r>
              <a:rPr lang="tr-TR" sz="2400" dirty="0" smtClean="0"/>
              <a:t>Altı adet sınıf mevcuttur  </a:t>
            </a:r>
            <a:endParaRPr lang="en-US" sz="2400" dirty="0" smtClean="0"/>
          </a:p>
          <a:p>
            <a:pPr lvl="1"/>
            <a:r>
              <a:rPr lang="tr-TR" sz="2400" dirty="0" smtClean="0"/>
              <a:t>Zaman paylaşımı (varsayılan) </a:t>
            </a:r>
            <a:endParaRPr lang="en-US" sz="2400" dirty="0" smtClean="0"/>
          </a:p>
          <a:p>
            <a:pPr lvl="1"/>
            <a:r>
              <a:rPr lang="tr-TR" sz="2400" dirty="0" smtClean="0"/>
              <a:t>İnteraktif</a:t>
            </a:r>
            <a:endParaRPr lang="en-US" sz="2400" dirty="0" smtClean="0"/>
          </a:p>
          <a:p>
            <a:pPr lvl="1"/>
            <a:r>
              <a:rPr lang="tr-TR" sz="2400" dirty="0" smtClean="0"/>
              <a:t>Gerçek zamanlı</a:t>
            </a:r>
            <a:endParaRPr lang="en-US" sz="2400" dirty="0" smtClean="0"/>
          </a:p>
          <a:p>
            <a:pPr lvl="1"/>
            <a:r>
              <a:rPr lang="tr-TR" sz="2400" dirty="0" smtClean="0"/>
              <a:t>Sistem</a:t>
            </a:r>
            <a:endParaRPr lang="en-US" sz="2400" dirty="0" smtClean="0"/>
          </a:p>
          <a:p>
            <a:pPr lvl="1"/>
            <a:r>
              <a:rPr lang="tr-TR" sz="2400" dirty="0" smtClean="0"/>
              <a:t>Açık paylaşım</a:t>
            </a:r>
            <a:endParaRPr lang="en-US" sz="2400" dirty="0" smtClean="0"/>
          </a:p>
          <a:p>
            <a:pPr lvl="1"/>
            <a:r>
              <a:rPr lang="tr-TR" sz="2400" dirty="0" smtClean="0"/>
              <a:t>Sabit öncelik</a:t>
            </a:r>
            <a:endParaRPr lang="en-US" sz="2400" dirty="0" smtClean="0"/>
          </a:p>
          <a:p>
            <a:r>
              <a:rPr lang="tr-TR" sz="2400" dirty="0" smtClean="0"/>
              <a:t>Belirli bir iş parçacığı herhangi bir zamanda sadece bir sınıfta olabilir  </a:t>
            </a:r>
            <a:endParaRPr lang="en-US" sz="2400" dirty="0" smtClean="0"/>
          </a:p>
          <a:p>
            <a:r>
              <a:rPr lang="tr-TR" sz="2400" dirty="0" smtClean="0"/>
              <a:t>Her bir sınıf kendi iş sıralama yaklaşımına sahiptir  </a:t>
            </a:r>
            <a:endParaRPr lang="en-US" sz="2400" dirty="0" smtClean="0"/>
          </a:p>
          <a:p>
            <a:r>
              <a:rPr lang="tr-TR" sz="2400" dirty="0" smtClean="0"/>
              <a:t>Zaman paylaşımı çok seviyeli geri beslemeli kuyruktur  </a:t>
            </a:r>
            <a:endParaRPr lang="en-US" sz="2400" dirty="0" smtClean="0"/>
          </a:p>
          <a:p>
            <a:pPr lvl="1"/>
            <a:r>
              <a:rPr lang="tr-TR" sz="2400" dirty="0" smtClean="0"/>
              <a:t>Sistem yöneticisi tarafından yüklenebilir tablo </a:t>
            </a:r>
            <a:r>
              <a:rPr lang="tr-TR" sz="2400" dirty="0" err="1" smtClean="0"/>
              <a:t>konfigüre</a:t>
            </a:r>
            <a:r>
              <a:rPr lang="tr-TR" sz="2400" dirty="0" smtClean="0"/>
              <a:t> edilebilir  </a:t>
            </a:r>
            <a:endParaRPr lang="en-US" sz="2400" dirty="0" smtClean="0"/>
          </a:p>
          <a:p>
            <a:endParaRPr lang="en-US" sz="2400" dirty="0" smtClean="0"/>
          </a:p>
          <a:p>
            <a:pPr lvl="1"/>
            <a:endParaRPr lang="en-US" sz="2400"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241425" y="369888"/>
            <a:ext cx="11788775" cy="768350"/>
          </a:xfrm>
        </p:spPr>
        <p:txBody>
          <a:bodyPr/>
          <a:lstStyle/>
          <a:p>
            <a:pPr eaLnBrk="1" hangingPunct="1"/>
            <a:r>
              <a:rPr lang="en-US" dirty="0" smtClean="0"/>
              <a:t>Solaris </a:t>
            </a:r>
            <a:r>
              <a:rPr lang="tr-TR" dirty="0" smtClean="0"/>
              <a:t>Görevlendirme </a:t>
            </a:r>
            <a:r>
              <a:rPr lang="en-US" dirty="0" err="1" smtClean="0"/>
              <a:t>Tabl</a:t>
            </a:r>
            <a:r>
              <a:rPr lang="tr-TR" dirty="0" smtClean="0"/>
              <a:t>osu</a:t>
            </a:r>
            <a:r>
              <a:rPr lang="en-US" dirty="0" smtClean="0"/>
              <a:t> </a:t>
            </a:r>
          </a:p>
        </p:txBody>
      </p:sp>
      <p:pic>
        <p:nvPicPr>
          <p:cNvPr id="95235" name="Picture 4"/>
          <p:cNvPicPr>
            <a:picLocks noChangeAspect="1" noChangeArrowheads="1"/>
          </p:cNvPicPr>
          <p:nvPr/>
        </p:nvPicPr>
        <p:blipFill>
          <a:blip r:embed="rId3"/>
          <a:srcRect/>
          <a:stretch>
            <a:fillRect/>
          </a:stretch>
        </p:blipFill>
        <p:spPr bwMode="auto">
          <a:xfrm>
            <a:off x="3270250" y="2103438"/>
            <a:ext cx="7462838" cy="599757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pPr eaLnBrk="1" hangingPunct="1"/>
            <a:r>
              <a:rPr lang="en-US" dirty="0" smtClean="0"/>
              <a:t>Solaris </a:t>
            </a:r>
            <a:r>
              <a:rPr lang="tr-TR" dirty="0" smtClean="0"/>
              <a:t>İş Sıralama</a:t>
            </a:r>
            <a:endParaRPr lang="en-US" dirty="0" smtClean="0"/>
          </a:p>
        </p:txBody>
      </p:sp>
      <p:pic>
        <p:nvPicPr>
          <p:cNvPr id="97283" name="Picture 4" descr="5"/>
          <p:cNvPicPr>
            <a:picLocks noChangeAspect="1" noChangeArrowheads="1"/>
          </p:cNvPicPr>
          <p:nvPr/>
        </p:nvPicPr>
        <p:blipFill>
          <a:blip r:embed="rId3"/>
          <a:srcRect/>
          <a:stretch>
            <a:fillRect/>
          </a:stretch>
        </p:blipFill>
        <p:spPr bwMode="auto">
          <a:xfrm>
            <a:off x="3989388" y="1655763"/>
            <a:ext cx="4981575" cy="6878637"/>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p:txBody>
          <a:bodyPr/>
          <a:lstStyle/>
          <a:p>
            <a:r>
              <a:rPr lang="en-US" dirty="0" smtClean="0"/>
              <a:t>Solaris </a:t>
            </a:r>
            <a:r>
              <a:rPr lang="tr-TR" dirty="0" smtClean="0"/>
              <a:t>İş Sıralama(devam</a:t>
            </a:r>
            <a:r>
              <a:rPr lang="en-US" dirty="0" smtClean="0"/>
              <a:t>)</a:t>
            </a:r>
          </a:p>
        </p:txBody>
      </p:sp>
      <p:sp>
        <p:nvSpPr>
          <p:cNvPr id="99331" name="Content Placeholder 2"/>
          <p:cNvSpPr>
            <a:spLocks noGrp="1"/>
          </p:cNvSpPr>
          <p:nvPr>
            <p:ph idx="1"/>
          </p:nvPr>
        </p:nvSpPr>
        <p:spPr/>
        <p:txBody>
          <a:bodyPr/>
          <a:lstStyle/>
          <a:p>
            <a:r>
              <a:rPr lang="tr-TR" sz="2400" dirty="0" smtClean="0"/>
              <a:t>İş sıralayıcı sınıfa özgü öncelikleri iş parçacığı global önceliğine dönüştürür  </a:t>
            </a:r>
            <a:endParaRPr lang="en-US" sz="2400" dirty="0" smtClean="0"/>
          </a:p>
          <a:p>
            <a:pPr lvl="1"/>
            <a:r>
              <a:rPr lang="tr-TR" sz="2400" dirty="0" smtClean="0"/>
              <a:t>En yüksek öncelikli iş parçacığı bir sonra çalışır  </a:t>
            </a:r>
            <a:endParaRPr lang="en-US" sz="2400" dirty="0" smtClean="0"/>
          </a:p>
          <a:p>
            <a:pPr lvl="1"/>
            <a:r>
              <a:rPr lang="en-US" sz="2400" dirty="0" smtClean="0"/>
              <a:t>(1) </a:t>
            </a:r>
            <a:r>
              <a:rPr lang="tr-TR" sz="2400" dirty="0" smtClean="0"/>
              <a:t>bloke olana kadar çalışır</a:t>
            </a:r>
            <a:r>
              <a:rPr lang="en-US" sz="2400" dirty="0" smtClean="0"/>
              <a:t>, (2) </a:t>
            </a:r>
            <a:r>
              <a:rPr lang="tr-TR" sz="2400" dirty="0" smtClean="0"/>
              <a:t>zaman periyodu kullanılır</a:t>
            </a:r>
            <a:r>
              <a:rPr lang="en-US" sz="2400" dirty="0" smtClean="0"/>
              <a:t>, (3) </a:t>
            </a:r>
            <a:r>
              <a:rPr lang="tr-TR" sz="2400" dirty="0" smtClean="0"/>
              <a:t>daha yüksek öncelikli iş parçacığı tarafından kesilir  </a:t>
            </a:r>
            <a:endParaRPr lang="en-US" sz="2400" dirty="0" smtClean="0"/>
          </a:p>
          <a:p>
            <a:pPr lvl="1"/>
            <a:r>
              <a:rPr lang="tr-TR" sz="2400" dirty="0" smtClean="0"/>
              <a:t>Aynı öncelikli birden fazla iş parçacığı </a:t>
            </a:r>
            <a:r>
              <a:rPr lang="tr-TR" sz="2400" dirty="0" err="1" smtClean="0"/>
              <a:t>RR’ye</a:t>
            </a:r>
            <a:r>
              <a:rPr lang="tr-TR" sz="2400" dirty="0" smtClean="0"/>
              <a:t> göre çalışır  </a:t>
            </a:r>
            <a:endParaRPr lang="en-US" sz="2400" dirty="0" smtClean="0"/>
          </a:p>
          <a:p>
            <a:pPr lvl="1">
              <a:buFont typeface="Monotype Sorts" charset="2"/>
              <a:buNone/>
            </a:pPr>
            <a:endParaRPr lang="en-US" sz="2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r>
              <a:rPr lang="en-US" dirty="0" smtClean="0"/>
              <a:t>Windows </a:t>
            </a:r>
            <a:r>
              <a:rPr lang="tr-TR" dirty="0" smtClean="0"/>
              <a:t>İş Sıralama</a:t>
            </a:r>
            <a:endParaRPr lang="en-US" dirty="0" smtClean="0"/>
          </a:p>
        </p:txBody>
      </p:sp>
      <p:sp>
        <p:nvSpPr>
          <p:cNvPr id="100355" name="Content Placeholder 2"/>
          <p:cNvSpPr>
            <a:spLocks noGrp="1"/>
          </p:cNvSpPr>
          <p:nvPr>
            <p:ph idx="1"/>
          </p:nvPr>
        </p:nvSpPr>
        <p:spPr/>
        <p:txBody>
          <a:bodyPr/>
          <a:lstStyle/>
          <a:p>
            <a:r>
              <a:rPr lang="en-US" sz="2400" dirty="0" smtClean="0"/>
              <a:t>Windows </a:t>
            </a:r>
            <a:r>
              <a:rPr lang="tr-TR" sz="2400" dirty="0" smtClean="0"/>
              <a:t>öncelik tabanlı kesintili bir iş sıralama  yaklaşımını kullanır  </a:t>
            </a:r>
            <a:endParaRPr lang="en-US" sz="2400" dirty="0" smtClean="0"/>
          </a:p>
          <a:p>
            <a:r>
              <a:rPr lang="tr-TR" sz="2400" dirty="0" smtClean="0"/>
              <a:t>En yüksek öncelikli iş parçacığı bir sonra çalışır  </a:t>
            </a:r>
            <a:endParaRPr lang="en-US" sz="2400" dirty="0" smtClean="0"/>
          </a:p>
          <a:p>
            <a:r>
              <a:rPr lang="tr-TR" sz="2400" i="1" dirty="0" err="1" smtClean="0"/>
              <a:t>Görevlendirici</a:t>
            </a:r>
            <a:r>
              <a:rPr lang="tr-TR" sz="2400" i="1" dirty="0" smtClean="0"/>
              <a:t> (</a:t>
            </a:r>
            <a:r>
              <a:rPr lang="en-US" sz="2400" i="1" dirty="0" smtClean="0"/>
              <a:t>Dispatcher</a:t>
            </a:r>
            <a:r>
              <a:rPr lang="tr-TR" sz="2400" i="1" dirty="0" smtClean="0"/>
              <a:t>)</a:t>
            </a:r>
            <a:r>
              <a:rPr lang="en-US" sz="2400" i="1" dirty="0" smtClean="0"/>
              <a:t> </a:t>
            </a:r>
            <a:r>
              <a:rPr lang="tr-TR" sz="2400" i="1" dirty="0" smtClean="0"/>
              <a:t>iş sıralayıcıdır </a:t>
            </a:r>
            <a:r>
              <a:rPr lang="tr-TR" sz="2400" dirty="0" smtClean="0"/>
              <a:t> </a:t>
            </a:r>
            <a:endParaRPr lang="en-US" sz="2400" dirty="0" smtClean="0"/>
          </a:p>
          <a:p>
            <a:r>
              <a:rPr lang="tr-TR" sz="2400" dirty="0" smtClean="0"/>
              <a:t>İş parçacıkları </a:t>
            </a:r>
            <a:r>
              <a:rPr lang="en-US" sz="2400" dirty="0" smtClean="0"/>
              <a:t>(1) </a:t>
            </a:r>
            <a:r>
              <a:rPr lang="tr-TR" sz="2400" dirty="0" smtClean="0"/>
              <a:t>bloke olana</a:t>
            </a:r>
            <a:r>
              <a:rPr lang="en-US" sz="2400" dirty="0" smtClean="0"/>
              <a:t>, (2) </a:t>
            </a:r>
            <a:r>
              <a:rPr lang="tr-TR" sz="2400" dirty="0" smtClean="0"/>
              <a:t>zaman periyodu bitimini</a:t>
            </a:r>
            <a:r>
              <a:rPr lang="en-US" sz="2400" dirty="0" smtClean="0"/>
              <a:t>, (3) </a:t>
            </a:r>
            <a:r>
              <a:rPr lang="tr-TR" sz="2400" dirty="0" smtClean="0"/>
              <a:t>daha yüksek öncelikli bir iş parçacığı tarafından kesilene dek çalışır </a:t>
            </a:r>
            <a:endParaRPr lang="en-US" sz="2400" dirty="0" smtClean="0"/>
          </a:p>
          <a:p>
            <a:r>
              <a:rPr lang="tr-TR" sz="2400" dirty="0" smtClean="0"/>
              <a:t>Gerçek zamanlı iş parçacıkları olmayanları kesebilir  </a:t>
            </a:r>
            <a:endParaRPr lang="en-US" sz="2400" dirty="0"/>
          </a:p>
          <a:p>
            <a:r>
              <a:rPr lang="en-US" sz="2400" dirty="0" smtClean="0"/>
              <a:t>32-</a:t>
            </a:r>
            <a:r>
              <a:rPr lang="tr-TR" sz="2400" dirty="0" smtClean="0"/>
              <a:t>seviyeli öncelik düzeni  </a:t>
            </a:r>
            <a:endParaRPr lang="en-US" sz="2400" dirty="0" smtClean="0"/>
          </a:p>
          <a:p>
            <a:r>
              <a:rPr lang="tr-TR" sz="2400" b="1" dirty="0" smtClean="0">
                <a:solidFill>
                  <a:srgbClr val="3366FF"/>
                </a:solidFill>
              </a:rPr>
              <a:t>Değişken sınıf</a:t>
            </a:r>
            <a:r>
              <a:rPr lang="en-US" sz="2400" dirty="0" smtClean="0"/>
              <a:t> 1-15, </a:t>
            </a:r>
            <a:r>
              <a:rPr lang="tr-TR" sz="2400" b="1" dirty="0" smtClean="0">
                <a:solidFill>
                  <a:srgbClr val="3366FF"/>
                </a:solidFill>
              </a:rPr>
              <a:t>gerçek zamanlı sınıf </a:t>
            </a:r>
            <a:r>
              <a:rPr lang="en-US" sz="2400" b="1" dirty="0" smtClean="0">
                <a:solidFill>
                  <a:srgbClr val="3366FF"/>
                </a:solidFill>
              </a:rPr>
              <a:t> </a:t>
            </a:r>
            <a:r>
              <a:rPr lang="en-US" sz="2400" dirty="0" smtClean="0"/>
              <a:t>16-31</a:t>
            </a:r>
          </a:p>
          <a:p>
            <a:r>
              <a:rPr lang="tr-TR" sz="2400" dirty="0" smtClean="0"/>
              <a:t>0 önceliği bellek yönetimi iş parçacığıdır  </a:t>
            </a:r>
            <a:endParaRPr lang="en-US" sz="2400" dirty="0" smtClean="0"/>
          </a:p>
          <a:p>
            <a:r>
              <a:rPr lang="tr-TR" sz="2400" dirty="0" smtClean="0"/>
              <a:t>Her öncelik için kuyruk vardır  </a:t>
            </a:r>
            <a:endParaRPr lang="en-US" sz="2400" dirty="0" smtClean="0"/>
          </a:p>
          <a:p>
            <a:r>
              <a:rPr lang="tr-TR" sz="2400" dirty="0" smtClean="0"/>
              <a:t>Eğer çalışabilir bir iş parçacığı yoksa, </a:t>
            </a:r>
            <a:r>
              <a:rPr lang="tr-TR" sz="2400" b="1" dirty="0" smtClean="0">
                <a:solidFill>
                  <a:srgbClr val="3366FF"/>
                </a:solidFill>
              </a:rPr>
              <a:t>boşta iş parçacığı </a:t>
            </a:r>
            <a:r>
              <a:rPr lang="tr-TR" sz="2400" dirty="0" smtClean="0"/>
              <a:t>çalışır  </a:t>
            </a:r>
            <a:endParaRPr lang="en-US" sz="2400" b="1" dirty="0" smtClean="0">
              <a:solidFill>
                <a:srgbClr val="3366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p:txBody>
          <a:bodyPr/>
          <a:lstStyle/>
          <a:p>
            <a:r>
              <a:rPr lang="en-US" dirty="0" smtClean="0"/>
              <a:t>Windows </a:t>
            </a:r>
            <a:r>
              <a:rPr lang="tr-TR" dirty="0" smtClean="0"/>
              <a:t>Öncelik Sınıflar </a:t>
            </a:r>
            <a:endParaRPr lang="en-US" dirty="0" smtClean="0"/>
          </a:p>
        </p:txBody>
      </p:sp>
      <p:sp>
        <p:nvSpPr>
          <p:cNvPr id="101379" name="Content Placeholder 2"/>
          <p:cNvSpPr>
            <a:spLocks noGrp="1"/>
          </p:cNvSpPr>
          <p:nvPr>
            <p:ph idx="1"/>
          </p:nvPr>
        </p:nvSpPr>
        <p:spPr/>
        <p:txBody>
          <a:bodyPr/>
          <a:lstStyle/>
          <a:p>
            <a:r>
              <a:rPr lang="en-US" sz="2400" dirty="0" smtClean="0"/>
              <a:t>Win32 API </a:t>
            </a:r>
            <a:r>
              <a:rPr lang="tr-TR" sz="2400" dirty="0" smtClean="0"/>
              <a:t>prosesin ait olduğu öncelik sınıflarını tanımlar  </a:t>
            </a:r>
            <a:endParaRPr lang="en-US" sz="2400" dirty="0" smtClean="0"/>
          </a:p>
          <a:p>
            <a:pPr lvl="1"/>
            <a:r>
              <a:rPr lang="en-US" sz="2400" dirty="0" smtClean="0"/>
              <a:t>REALTIME_PRIORITY_CLASS, HIGH_PRIORITY_CLASS, ABOVE_NORMAL_PRIORITY_CLASS,NORMAL_PRIORITY_CLASS, BELOW_NORMAL_PRIORITY_CLASS, IDLE_PRIORITY_CLASS</a:t>
            </a:r>
            <a:endParaRPr lang="en-US" sz="2400" b="1" dirty="0" smtClean="0">
              <a:solidFill>
                <a:srgbClr val="3366FF"/>
              </a:solidFill>
            </a:endParaRPr>
          </a:p>
          <a:p>
            <a:pPr lvl="1"/>
            <a:r>
              <a:rPr lang="en-US" sz="2400" dirty="0" smtClean="0"/>
              <a:t>REALTIME</a:t>
            </a:r>
            <a:r>
              <a:rPr lang="tr-TR" sz="2400" dirty="0"/>
              <a:t> </a:t>
            </a:r>
            <a:r>
              <a:rPr lang="tr-TR" sz="2400" dirty="0" smtClean="0"/>
              <a:t>harici tümü değişkendir </a:t>
            </a:r>
            <a:endParaRPr lang="en-US" sz="2400" dirty="0" smtClean="0"/>
          </a:p>
          <a:p>
            <a:r>
              <a:rPr lang="tr-TR" sz="2400" dirty="0" smtClean="0"/>
              <a:t>Belirli bir öncelik sınıfındaki bir iş parçacığı bağıl bir önceliğe sahiptir  </a:t>
            </a:r>
            <a:endParaRPr lang="en-US" sz="2400" dirty="0" smtClean="0"/>
          </a:p>
          <a:p>
            <a:pPr lvl="1"/>
            <a:r>
              <a:rPr lang="en-US" sz="2400" dirty="0" smtClean="0"/>
              <a:t>TIME_CRITICAL, HIGHEST, ABOVE_NORMAL, NORMAL, BELOW_NORMAL, LOWEST, IDLE</a:t>
            </a:r>
          </a:p>
          <a:p>
            <a:r>
              <a:rPr lang="tr-TR" sz="2400" dirty="0" smtClean="0"/>
              <a:t>Öncelik sınıfı ve bağıl öncelik nümerik önceliği oluşturur  </a:t>
            </a:r>
            <a:endParaRPr lang="en-US" sz="2400" dirty="0" smtClean="0"/>
          </a:p>
          <a:p>
            <a:r>
              <a:rPr lang="tr-TR" sz="2400" dirty="0" smtClean="0"/>
              <a:t>Taban önceliği </a:t>
            </a:r>
            <a:r>
              <a:rPr lang="en-US" sz="2400" dirty="0" smtClean="0"/>
              <a:t> NORMAL </a:t>
            </a:r>
            <a:r>
              <a:rPr lang="tr-TR" sz="2400" dirty="0" err="1" smtClean="0"/>
              <a:t>dir</a:t>
            </a:r>
            <a:endParaRPr lang="en-US" sz="2400" dirty="0" smtClean="0"/>
          </a:p>
          <a:p>
            <a:r>
              <a:rPr lang="tr-TR" sz="2400" dirty="0" smtClean="0"/>
              <a:t>Eğer kuantum zamanı aşarsa, öncelik tabanın altına inmeyecek şekilde düşürülür  </a:t>
            </a:r>
            <a:endParaRPr lang="en-US" sz="2400" dirty="0" smtClean="0"/>
          </a:p>
          <a:p>
            <a:r>
              <a:rPr lang="tr-TR" sz="2400" dirty="0" smtClean="0"/>
              <a:t>Eğer bekleme olursa, ne için beklediğine göre öncelik artırılır </a:t>
            </a:r>
            <a:endParaRPr lang="en-US" sz="2400" dirty="0" smtClean="0"/>
          </a:p>
          <a:p>
            <a:r>
              <a:rPr lang="tr-TR" sz="2400" dirty="0" smtClean="0"/>
              <a:t>En öndeki pencereye 3x öncelik verilir  </a:t>
            </a:r>
            <a:endParaRPr lang="en-US" sz="2400"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1328738" y="369888"/>
            <a:ext cx="11701462" cy="768350"/>
          </a:xfrm>
        </p:spPr>
        <p:txBody>
          <a:bodyPr/>
          <a:lstStyle/>
          <a:p>
            <a:pPr eaLnBrk="1" hangingPunct="1"/>
            <a:r>
              <a:rPr lang="en-US" dirty="0" smtClean="0"/>
              <a:t>Windows XP </a:t>
            </a:r>
            <a:r>
              <a:rPr lang="tr-TR" dirty="0" smtClean="0"/>
              <a:t>Öncelikleri</a:t>
            </a:r>
            <a:endParaRPr lang="en-US" dirty="0" smtClean="0"/>
          </a:p>
        </p:txBody>
      </p:sp>
      <p:pic>
        <p:nvPicPr>
          <p:cNvPr id="102403" name="Picture 6"/>
          <p:cNvPicPr>
            <a:picLocks noChangeAspect="1" noChangeArrowheads="1"/>
          </p:cNvPicPr>
          <p:nvPr/>
        </p:nvPicPr>
        <p:blipFill>
          <a:blip r:embed="rId3"/>
          <a:srcRect/>
          <a:stretch>
            <a:fillRect/>
          </a:stretch>
        </p:blipFill>
        <p:spPr bwMode="auto">
          <a:xfrm>
            <a:off x="1350963" y="2401888"/>
            <a:ext cx="11082337" cy="40767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1241425" y="369888"/>
            <a:ext cx="11788775" cy="768350"/>
          </a:xfrm>
        </p:spPr>
        <p:txBody>
          <a:bodyPr/>
          <a:lstStyle/>
          <a:p>
            <a:pPr eaLnBrk="1" hangingPunct="1"/>
            <a:r>
              <a:rPr lang="en-US" dirty="0" smtClean="0"/>
              <a:t>Linux </a:t>
            </a:r>
            <a:r>
              <a:rPr lang="tr-TR" dirty="0" smtClean="0"/>
              <a:t>İş Sıralama</a:t>
            </a:r>
            <a:endParaRPr lang="en-US" dirty="0" smtClean="0"/>
          </a:p>
        </p:txBody>
      </p:sp>
      <p:sp>
        <p:nvSpPr>
          <p:cNvPr id="104451" name="Rectangle 3"/>
          <p:cNvSpPr>
            <a:spLocks noGrp="1" noChangeArrowheads="1"/>
          </p:cNvSpPr>
          <p:nvPr>
            <p:ph type="body" idx="1"/>
          </p:nvPr>
        </p:nvSpPr>
        <p:spPr>
          <a:xfrm>
            <a:off x="1241425" y="1881188"/>
            <a:ext cx="11026775" cy="5978525"/>
          </a:xfrm>
        </p:spPr>
        <p:txBody>
          <a:bodyPr/>
          <a:lstStyle/>
          <a:p>
            <a:pPr>
              <a:lnSpc>
                <a:spcPct val="90000"/>
              </a:lnSpc>
            </a:pPr>
            <a:r>
              <a:rPr lang="tr-TR" sz="2400" dirty="0" smtClean="0"/>
              <a:t>Sabit dereceli </a:t>
            </a:r>
            <a:r>
              <a:rPr lang="en-US" sz="2400" i="1" dirty="0" smtClean="0"/>
              <a:t>O</a:t>
            </a:r>
            <a:r>
              <a:rPr lang="en-US" sz="2400" dirty="0" smtClean="0"/>
              <a:t>(1) </a:t>
            </a:r>
            <a:r>
              <a:rPr lang="tr-TR" sz="2400" dirty="0" smtClean="0"/>
              <a:t>iş sıralama zamanı</a:t>
            </a:r>
            <a:endParaRPr lang="en-US" sz="2400" dirty="0" smtClean="0"/>
          </a:p>
          <a:p>
            <a:pPr>
              <a:lnSpc>
                <a:spcPct val="90000"/>
              </a:lnSpc>
            </a:pPr>
            <a:r>
              <a:rPr lang="tr-TR" sz="2400" dirty="0" smtClean="0"/>
              <a:t>Kesintili öncelik tabanlı  </a:t>
            </a:r>
            <a:endParaRPr lang="en-US" sz="2400" dirty="0" smtClean="0"/>
          </a:p>
          <a:p>
            <a:pPr>
              <a:lnSpc>
                <a:spcPct val="90000"/>
              </a:lnSpc>
            </a:pPr>
            <a:r>
              <a:rPr lang="tr-TR" sz="2400" dirty="0" smtClean="0"/>
              <a:t>İki adet öncelik aralığı: zaman paylaşımlı ve gerçek zamanlı  </a:t>
            </a:r>
            <a:endParaRPr lang="en-US" sz="2400" dirty="0" smtClean="0"/>
          </a:p>
          <a:p>
            <a:pPr>
              <a:lnSpc>
                <a:spcPct val="90000"/>
              </a:lnSpc>
            </a:pPr>
            <a:r>
              <a:rPr lang="tr-TR" sz="2400" b="1" dirty="0" smtClean="0"/>
              <a:t>Gerçek zamanlı </a:t>
            </a:r>
            <a:r>
              <a:rPr lang="tr-TR" sz="2400" dirty="0" smtClean="0"/>
              <a:t>aralık 0 dan 99 a </a:t>
            </a:r>
            <a:r>
              <a:rPr lang="tr-TR" sz="2400" dirty="0" err="1" smtClean="0"/>
              <a:t>dır</a:t>
            </a:r>
            <a:r>
              <a:rPr lang="tr-TR" sz="2400" dirty="0" smtClean="0"/>
              <a:t> </a:t>
            </a:r>
          </a:p>
          <a:p>
            <a:pPr>
              <a:lnSpc>
                <a:spcPct val="90000"/>
              </a:lnSpc>
            </a:pPr>
            <a:r>
              <a:rPr lang="tr-TR" sz="2400" dirty="0" smtClean="0"/>
              <a:t>Daha yüksek önceliği gösteren nümerik düşük değerlere sahip global öncelik  </a:t>
            </a:r>
            <a:endParaRPr lang="en-US" sz="2400" dirty="0" smtClean="0"/>
          </a:p>
          <a:p>
            <a:pPr>
              <a:lnSpc>
                <a:spcPct val="90000"/>
              </a:lnSpc>
            </a:pPr>
            <a:r>
              <a:rPr lang="tr-TR" sz="2400" dirty="0" smtClean="0"/>
              <a:t>Daha yüksek öncelik daha büyük q ya neden olur  </a:t>
            </a:r>
            <a:endParaRPr lang="en-US" sz="2400" dirty="0" smtClean="0"/>
          </a:p>
          <a:p>
            <a:pPr>
              <a:lnSpc>
                <a:spcPct val="90000"/>
              </a:lnSpc>
            </a:pPr>
            <a:r>
              <a:rPr lang="tr-TR" sz="2400" dirty="0" smtClean="0"/>
              <a:t>Zaman aralığında kalan zaman süresi kadar görev çalışabilir </a:t>
            </a:r>
            <a:r>
              <a:rPr lang="en-US" sz="2400" dirty="0" smtClean="0"/>
              <a:t>(</a:t>
            </a:r>
            <a:r>
              <a:rPr lang="en-US" sz="2400" b="1" dirty="0" smtClean="0">
                <a:solidFill>
                  <a:srgbClr val="3366FF"/>
                </a:solidFill>
              </a:rPr>
              <a:t>active</a:t>
            </a:r>
            <a:r>
              <a:rPr lang="en-US" sz="2400" dirty="0" smtClean="0"/>
              <a:t>)</a:t>
            </a:r>
          </a:p>
          <a:p>
            <a:pPr>
              <a:lnSpc>
                <a:spcPct val="90000"/>
              </a:lnSpc>
            </a:pPr>
            <a:r>
              <a:rPr lang="tr-TR" sz="2400" dirty="0" smtClean="0"/>
              <a:t>Eğer zaman kalmamışsa </a:t>
            </a:r>
            <a:r>
              <a:rPr lang="en-US" sz="2400" dirty="0" smtClean="0"/>
              <a:t> (</a:t>
            </a:r>
            <a:r>
              <a:rPr lang="en-US" sz="2400" b="1" dirty="0" smtClean="0">
                <a:solidFill>
                  <a:srgbClr val="3366FF"/>
                </a:solidFill>
              </a:rPr>
              <a:t>expired</a:t>
            </a:r>
            <a:r>
              <a:rPr lang="en-US" sz="2400" dirty="0" smtClean="0"/>
              <a:t>), </a:t>
            </a:r>
            <a:r>
              <a:rPr lang="tr-TR" sz="2400" dirty="0" smtClean="0"/>
              <a:t>diğer görevler kendi zaman aralıklarını kullanana kadar çalışamaz  </a:t>
            </a:r>
            <a:endParaRPr lang="en-US" sz="2400" dirty="0" smtClean="0"/>
          </a:p>
          <a:p>
            <a:pPr>
              <a:lnSpc>
                <a:spcPct val="90000"/>
              </a:lnSpc>
            </a:pPr>
            <a:r>
              <a:rPr lang="tr-TR" sz="2400" dirty="0" smtClean="0"/>
              <a:t>Tüm çalışabilir görevler CPU başına bir adet çalışır kuyruğunda tutulur  </a:t>
            </a:r>
            <a:endParaRPr lang="en-US" sz="2400" dirty="0" smtClean="0"/>
          </a:p>
          <a:p>
            <a:pPr lvl="1">
              <a:lnSpc>
                <a:spcPct val="90000"/>
              </a:lnSpc>
            </a:pPr>
            <a:r>
              <a:rPr lang="tr-TR" sz="2400" dirty="0" smtClean="0"/>
              <a:t>İki adet öncelikli dizi </a:t>
            </a:r>
            <a:r>
              <a:rPr lang="en-US" sz="2400" dirty="0" smtClean="0"/>
              <a:t>(active, expired)</a:t>
            </a:r>
          </a:p>
          <a:p>
            <a:pPr lvl="1">
              <a:lnSpc>
                <a:spcPct val="90000"/>
              </a:lnSpc>
            </a:pPr>
            <a:r>
              <a:rPr lang="tr-TR" sz="2400" dirty="0" smtClean="0"/>
              <a:t>Görevler önceliğe göre sıralanır  </a:t>
            </a:r>
            <a:endParaRPr lang="en-US" sz="2400" dirty="0" smtClean="0"/>
          </a:p>
          <a:p>
            <a:pPr lvl="1">
              <a:lnSpc>
                <a:spcPct val="90000"/>
              </a:lnSpc>
            </a:pPr>
            <a:r>
              <a:rPr lang="tr-TR" sz="2400" dirty="0" smtClean="0"/>
              <a:t>Aktif görev kalmadığında diziler yer değişir  </a:t>
            </a:r>
            <a:endParaRPr lang="en-US" sz="2400" dirty="0" smtClean="0"/>
          </a:p>
          <a:p>
            <a:pPr>
              <a:lnSpc>
                <a:spcPct val="90000"/>
              </a:lnSpc>
              <a:buFont typeface="Monotype Sorts" charset="2"/>
              <a:buNone/>
            </a:pPr>
            <a:endParaRPr lang="en-US" sz="2400"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p:txBody>
          <a:bodyPr/>
          <a:lstStyle/>
          <a:p>
            <a:r>
              <a:rPr lang="en-US" dirty="0" smtClean="0"/>
              <a:t>Linux </a:t>
            </a:r>
            <a:r>
              <a:rPr lang="tr-TR" dirty="0" smtClean="0"/>
              <a:t>İş Sıralama </a:t>
            </a:r>
            <a:r>
              <a:rPr lang="en-US" dirty="0" smtClean="0"/>
              <a:t>(</a:t>
            </a:r>
            <a:r>
              <a:rPr lang="tr-TR" dirty="0" smtClean="0"/>
              <a:t>devam</a:t>
            </a:r>
            <a:r>
              <a:rPr lang="en-US" dirty="0" smtClean="0"/>
              <a:t>)</a:t>
            </a:r>
          </a:p>
        </p:txBody>
      </p:sp>
      <p:sp>
        <p:nvSpPr>
          <p:cNvPr id="106499" name="Content Placeholder 2"/>
          <p:cNvSpPr>
            <a:spLocks noGrp="1"/>
          </p:cNvSpPr>
          <p:nvPr>
            <p:ph idx="1"/>
          </p:nvPr>
        </p:nvSpPr>
        <p:spPr/>
        <p:txBody>
          <a:bodyPr/>
          <a:lstStyle/>
          <a:p>
            <a:r>
              <a:rPr lang="tr-TR" sz="2400" dirty="0" smtClean="0"/>
              <a:t>Gerçek zaman iş sıralama POSIX e göre yapılır</a:t>
            </a:r>
            <a:endParaRPr lang="en-US" sz="2400" dirty="0" smtClean="0"/>
          </a:p>
          <a:p>
            <a:pPr lvl="1"/>
            <a:r>
              <a:rPr lang="tr-TR" sz="2400" dirty="0" smtClean="0"/>
              <a:t>Gerçek zamanlı görevler statik önceliklere sahiptir  </a:t>
            </a:r>
            <a:endParaRPr lang="en-US" sz="2400" dirty="0" smtClean="0"/>
          </a:p>
          <a:p>
            <a:r>
              <a:rPr lang="tr-TR" sz="2400" dirty="0" smtClean="0"/>
              <a:t>Tüm diğer görevler nice değerine göre artı eksi 5 olarak dinamiktir.  </a:t>
            </a:r>
            <a:endParaRPr lang="en-US" sz="2400" dirty="0" smtClean="0"/>
          </a:p>
          <a:p>
            <a:pPr lvl="1"/>
            <a:r>
              <a:rPr lang="tr-TR" sz="2400" dirty="0" smtClean="0"/>
              <a:t>Görevin </a:t>
            </a:r>
            <a:r>
              <a:rPr lang="tr-TR" sz="2400" dirty="0" err="1" smtClean="0"/>
              <a:t>interaktivitesi</a:t>
            </a:r>
            <a:r>
              <a:rPr lang="tr-TR" sz="2400" dirty="0" smtClean="0"/>
              <a:t> artı veya eksi olmasını belirler  </a:t>
            </a:r>
            <a:endParaRPr lang="en-US" sz="2400" dirty="0" smtClean="0"/>
          </a:p>
          <a:p>
            <a:pPr lvl="2"/>
            <a:r>
              <a:rPr lang="tr-TR" sz="2400" dirty="0" smtClean="0"/>
              <a:t>Daha interaktif </a:t>
            </a:r>
            <a:r>
              <a:rPr lang="en-US" sz="2400" dirty="0" smtClean="0"/>
              <a:t>-&gt; </a:t>
            </a:r>
            <a:r>
              <a:rPr lang="tr-TR" sz="2400" dirty="0" smtClean="0"/>
              <a:t>daha eksi</a:t>
            </a:r>
            <a:endParaRPr lang="en-US" sz="2400" dirty="0" smtClean="0"/>
          </a:p>
          <a:p>
            <a:pPr lvl="1"/>
            <a:r>
              <a:rPr lang="tr-TR" sz="2400" dirty="0" smtClean="0"/>
              <a:t>Görev zaman aşımına uğradığında öncelik yeniden hesaplanır  </a:t>
            </a:r>
            <a:endParaRPr lang="en-US" sz="2400" dirty="0" smtClean="0"/>
          </a:p>
          <a:p>
            <a:pPr lvl="1"/>
            <a:r>
              <a:rPr lang="tr-TR" sz="2400" dirty="0" smtClean="0"/>
              <a:t>Bu karşılıklı değişilen diziler ayarlı öncelikleri uygular  </a:t>
            </a:r>
            <a:endParaRPr lang="en-US" sz="24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722313" y="373063"/>
            <a:ext cx="13187362" cy="771525"/>
          </a:xfrm>
        </p:spPr>
        <p:txBody>
          <a:bodyPr/>
          <a:lstStyle/>
          <a:p>
            <a:pPr eaLnBrk="1" hangingPunct="1"/>
            <a:r>
              <a:rPr lang="tr-TR" dirty="0" smtClean="0"/>
              <a:t>Öncelikler ve Zaman Süresi</a:t>
            </a:r>
            <a:endParaRPr lang="en-US" dirty="0" smtClean="0"/>
          </a:p>
        </p:txBody>
      </p:sp>
      <p:pic>
        <p:nvPicPr>
          <p:cNvPr id="107523" name="Picture 4"/>
          <p:cNvPicPr>
            <a:picLocks noChangeAspect="1" noChangeArrowheads="1"/>
          </p:cNvPicPr>
          <p:nvPr/>
        </p:nvPicPr>
        <p:blipFill>
          <a:blip r:embed="rId3"/>
          <a:srcRect/>
          <a:stretch>
            <a:fillRect/>
          </a:stretch>
        </p:blipFill>
        <p:spPr bwMode="auto">
          <a:xfrm>
            <a:off x="1260475" y="1839913"/>
            <a:ext cx="11155363" cy="561657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1028700" y="407988"/>
            <a:ext cx="12344400" cy="768350"/>
          </a:xfrm>
        </p:spPr>
        <p:txBody>
          <a:bodyPr/>
          <a:lstStyle/>
          <a:p>
            <a:pPr eaLnBrk="1" hangingPunct="1"/>
            <a:r>
              <a:rPr lang="tr-TR" sz="4000" dirty="0" smtClean="0"/>
              <a:t>Önceliklere Göre Sıralanmış Görev Listesi  </a:t>
            </a:r>
            <a:endParaRPr lang="en-US" sz="4000" dirty="0" smtClean="0"/>
          </a:p>
        </p:txBody>
      </p:sp>
      <p:pic>
        <p:nvPicPr>
          <p:cNvPr id="109571" name="Picture 4"/>
          <p:cNvPicPr>
            <a:picLocks noChangeAspect="1" noChangeArrowheads="1"/>
          </p:cNvPicPr>
          <p:nvPr/>
        </p:nvPicPr>
        <p:blipFill>
          <a:blip r:embed="rId3"/>
          <a:srcRect/>
          <a:stretch>
            <a:fillRect/>
          </a:stretch>
        </p:blipFill>
        <p:spPr bwMode="auto">
          <a:xfrm>
            <a:off x="1960563" y="2582863"/>
            <a:ext cx="10102850" cy="43053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pPr eaLnBrk="1" hangingPunct="1"/>
            <a:r>
              <a:rPr lang="en-US" smtClean="0"/>
              <a:t>Java Thread Scheduling</a:t>
            </a:r>
          </a:p>
        </p:txBody>
      </p:sp>
      <p:sp>
        <p:nvSpPr>
          <p:cNvPr id="132099" name="Rectangle 3"/>
          <p:cNvSpPr>
            <a:spLocks noGrp="1" noChangeArrowheads="1"/>
          </p:cNvSpPr>
          <p:nvPr>
            <p:ph type="body" idx="1"/>
          </p:nvPr>
        </p:nvSpPr>
        <p:spPr>
          <a:xfrm>
            <a:off x="1209675" y="2139950"/>
            <a:ext cx="11439525" cy="4208463"/>
          </a:xfrm>
        </p:spPr>
        <p:txBody>
          <a:bodyPr/>
          <a:lstStyle/>
          <a:p>
            <a:r>
              <a:rPr lang="en-US" dirty="0" smtClean="0"/>
              <a:t>JVM Uses a Preemptive, Priority-Based Scheduling Algorithm</a:t>
            </a:r>
            <a:br>
              <a:rPr lang="en-US" dirty="0" smtClean="0"/>
            </a:br>
            <a:r>
              <a:rPr lang="en-US" dirty="0" smtClean="0"/>
              <a:t/>
            </a:r>
            <a:br>
              <a:rPr lang="en-US" dirty="0" smtClean="0"/>
            </a:br>
            <a:endParaRPr lang="en-US" dirty="0" smtClean="0"/>
          </a:p>
          <a:p>
            <a:r>
              <a:rPr lang="en-US" dirty="0" smtClean="0"/>
              <a:t>FIFO Queue is Used if There Are Multiple Threads With the Same Priority</a:t>
            </a:r>
          </a:p>
        </p:txBody>
      </p:sp>
    </p:spTree>
    <p:extLst>
      <p:ext uri="{BB962C8B-B14F-4D97-AF65-F5344CB8AC3E}">
        <p14:creationId xmlns:p14="http://schemas.microsoft.com/office/powerpoint/2010/main" val="425752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eaLnBrk="1" hangingPunct="1"/>
            <a:r>
              <a:rPr lang="en-US" smtClean="0"/>
              <a:t>Java Thread Scheduling (Cont.)</a:t>
            </a:r>
          </a:p>
        </p:txBody>
      </p:sp>
      <p:sp>
        <p:nvSpPr>
          <p:cNvPr id="134147" name="Rectangle 3"/>
          <p:cNvSpPr>
            <a:spLocks noGrp="1" noChangeArrowheads="1"/>
          </p:cNvSpPr>
          <p:nvPr>
            <p:ph type="body" idx="1"/>
          </p:nvPr>
        </p:nvSpPr>
        <p:spPr>
          <a:xfrm>
            <a:off x="1209675" y="1644650"/>
            <a:ext cx="11453813" cy="6040438"/>
          </a:xfrm>
        </p:spPr>
        <p:txBody>
          <a:bodyPr/>
          <a:lstStyle/>
          <a:p>
            <a:pPr>
              <a:buFont typeface="Monotype Sorts" charset="2"/>
              <a:buNone/>
            </a:pPr>
            <a:r>
              <a:rPr lang="en-US" smtClean="0"/>
              <a:t>JVM Schedules a Thread to Run When:</a:t>
            </a:r>
          </a:p>
          <a:p>
            <a:pPr>
              <a:buFont typeface="Monotype Sorts" charset="2"/>
              <a:buNone/>
            </a:pPr>
            <a:endParaRPr lang="en-US" smtClean="0"/>
          </a:p>
          <a:p>
            <a:pPr marL="1141413" lvl="1" indent="-488950">
              <a:buFontTx/>
              <a:buAutoNum type="arabicPeriod"/>
            </a:pPr>
            <a:r>
              <a:rPr lang="en-US" smtClean="0"/>
              <a:t>The Currently Running Thread Exits the Runnable State</a:t>
            </a:r>
          </a:p>
          <a:p>
            <a:pPr marL="1141413" lvl="1" indent="-488950">
              <a:buFontTx/>
              <a:buAutoNum type="arabicPeriod"/>
            </a:pPr>
            <a:r>
              <a:rPr lang="en-US" smtClean="0"/>
              <a:t>A Higher Priority Thread Enters the Runnable State</a:t>
            </a:r>
          </a:p>
          <a:p>
            <a:pPr>
              <a:buFontTx/>
              <a:buNone/>
            </a:pPr>
            <a:endParaRPr lang="en-US" smtClean="0"/>
          </a:p>
          <a:p>
            <a:pPr>
              <a:buFontTx/>
              <a:buNone/>
            </a:pPr>
            <a:r>
              <a:rPr lang="en-US" smtClean="0"/>
              <a:t>   * Note – the JVM Does Not Specify Whether Threads are Time-Sliced or Not</a:t>
            </a:r>
          </a:p>
        </p:txBody>
      </p:sp>
    </p:spTree>
    <p:extLst>
      <p:ext uri="{BB962C8B-B14F-4D97-AF65-F5344CB8AC3E}">
        <p14:creationId xmlns:p14="http://schemas.microsoft.com/office/powerpoint/2010/main" val="2443686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hangingPunct="1"/>
            <a:r>
              <a:rPr lang="en-US" smtClean="0"/>
              <a:t>Time-Slicing</a:t>
            </a:r>
          </a:p>
        </p:txBody>
      </p:sp>
      <p:sp>
        <p:nvSpPr>
          <p:cNvPr id="136195" name="Rectangle 3"/>
          <p:cNvSpPr>
            <a:spLocks noGrp="1" noChangeArrowheads="1"/>
          </p:cNvSpPr>
          <p:nvPr>
            <p:ph type="body" idx="1"/>
          </p:nvPr>
        </p:nvSpPr>
        <p:spPr>
          <a:xfrm>
            <a:off x="1257300" y="1695450"/>
            <a:ext cx="11772900" cy="6502400"/>
          </a:xfrm>
        </p:spPr>
        <p:txBody>
          <a:bodyPr/>
          <a:lstStyle/>
          <a:p>
            <a:pPr>
              <a:buFont typeface="Monotype Sorts" charset="2"/>
              <a:buNone/>
            </a:pPr>
            <a:r>
              <a:rPr lang="en-US" smtClean="0"/>
              <a:t>Since the JVM Doesn’t Ensure Time-Slicing, the yield() Method </a:t>
            </a:r>
          </a:p>
          <a:p>
            <a:pPr>
              <a:buFont typeface="Monotype Sorts" charset="2"/>
              <a:buNone/>
            </a:pPr>
            <a:r>
              <a:rPr lang="en-US" smtClean="0"/>
              <a:t>May Be Used:</a:t>
            </a:r>
          </a:p>
          <a:p>
            <a:endParaRPr lang="en-US" smtClean="0"/>
          </a:p>
          <a:p>
            <a:pPr>
              <a:buFont typeface="Monotype Sorts" charset="2"/>
              <a:buNone/>
            </a:pPr>
            <a:r>
              <a:rPr lang="en-US" smtClean="0"/>
              <a:t>	while (true) {</a:t>
            </a:r>
          </a:p>
          <a:p>
            <a:pPr>
              <a:buFont typeface="Monotype Sorts" charset="2"/>
              <a:buNone/>
            </a:pPr>
            <a:r>
              <a:rPr lang="en-US" smtClean="0"/>
              <a:t>		// perform CPU-intensive task</a:t>
            </a:r>
          </a:p>
          <a:p>
            <a:pPr>
              <a:buFont typeface="Monotype Sorts" charset="2"/>
              <a:buNone/>
            </a:pPr>
            <a:r>
              <a:rPr lang="en-US" smtClean="0"/>
              <a:t>		. . .</a:t>
            </a:r>
          </a:p>
          <a:p>
            <a:pPr>
              <a:buFont typeface="Monotype Sorts" charset="2"/>
              <a:buNone/>
            </a:pPr>
            <a:r>
              <a:rPr lang="en-US" smtClean="0"/>
              <a:t>		Thread.yield();</a:t>
            </a:r>
          </a:p>
          <a:p>
            <a:pPr>
              <a:buFont typeface="Monotype Sorts" charset="2"/>
              <a:buNone/>
            </a:pPr>
            <a:r>
              <a:rPr lang="en-US" smtClean="0"/>
              <a:t>	}</a:t>
            </a:r>
          </a:p>
          <a:p>
            <a:pPr>
              <a:buFont typeface="Monotype Sorts" charset="2"/>
              <a:buNone/>
            </a:pPr>
            <a:endParaRPr lang="en-US" smtClean="0"/>
          </a:p>
          <a:p>
            <a:pPr>
              <a:buFont typeface="Monotype Sorts" charset="2"/>
              <a:buNone/>
            </a:pPr>
            <a:r>
              <a:rPr lang="en-US" smtClean="0"/>
              <a:t>This Yields Control to Another Thread of Equal Priority</a:t>
            </a:r>
          </a:p>
        </p:txBody>
      </p:sp>
    </p:spTree>
    <p:extLst>
      <p:ext uri="{BB962C8B-B14F-4D97-AF65-F5344CB8AC3E}">
        <p14:creationId xmlns:p14="http://schemas.microsoft.com/office/powerpoint/2010/main" val="1408734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eaLnBrk="1" hangingPunct="1"/>
            <a:r>
              <a:rPr lang="en-US" smtClean="0"/>
              <a:t>Thread Priorities</a:t>
            </a:r>
          </a:p>
        </p:txBody>
      </p:sp>
      <p:sp>
        <p:nvSpPr>
          <p:cNvPr id="138243" name="Rectangle 3"/>
          <p:cNvSpPr>
            <a:spLocks noGrp="1" noChangeArrowheads="1"/>
          </p:cNvSpPr>
          <p:nvPr>
            <p:ph type="body" idx="1"/>
          </p:nvPr>
        </p:nvSpPr>
        <p:spPr>
          <a:xfrm>
            <a:off x="1636713" y="1925638"/>
            <a:ext cx="11455400" cy="5162550"/>
          </a:xfrm>
        </p:spPr>
        <p:txBody>
          <a:bodyPr/>
          <a:lstStyle/>
          <a:p>
            <a:pPr>
              <a:buFont typeface="Monotype Sorts" charset="2"/>
              <a:buNone/>
            </a:pPr>
            <a:r>
              <a:rPr lang="en-US" smtClean="0"/>
              <a:t/>
            </a:r>
            <a:br>
              <a:rPr lang="en-US" smtClean="0"/>
            </a:br>
            <a:r>
              <a:rPr lang="en-US" b="1" u="sng" smtClean="0"/>
              <a:t>Priority</a:t>
            </a:r>
            <a:r>
              <a:rPr lang="en-US" b="1" smtClean="0"/>
              <a:t>			</a:t>
            </a:r>
            <a:r>
              <a:rPr lang="en-US" b="1" u="sng" smtClean="0"/>
              <a:t>Comment</a:t>
            </a:r>
          </a:p>
          <a:p>
            <a:pPr>
              <a:buFont typeface="Monotype Sorts" charset="2"/>
              <a:buNone/>
            </a:pPr>
            <a:r>
              <a:rPr lang="en-US" smtClean="0"/>
              <a:t>Thread.MIN_PRIORITY		Minimum Thread Priority</a:t>
            </a:r>
          </a:p>
          <a:p>
            <a:pPr>
              <a:buFont typeface="Monotype Sorts" charset="2"/>
              <a:buNone/>
            </a:pPr>
            <a:r>
              <a:rPr lang="en-US" smtClean="0"/>
              <a:t>Thread.MAX_PRIORITY	               Maximum Thread Priority</a:t>
            </a:r>
          </a:p>
          <a:p>
            <a:pPr>
              <a:buFont typeface="Monotype Sorts" charset="2"/>
              <a:buNone/>
            </a:pPr>
            <a:r>
              <a:rPr lang="en-US" smtClean="0"/>
              <a:t>Thread.NORM_PRIORITY	               Default Thread Priority</a:t>
            </a:r>
          </a:p>
          <a:p>
            <a:pPr>
              <a:buFont typeface="Monotype Sorts" charset="2"/>
              <a:buNone/>
            </a:pPr>
            <a:endParaRPr lang="en-US" smtClean="0"/>
          </a:p>
          <a:p>
            <a:pPr>
              <a:buFont typeface="Monotype Sorts" charset="2"/>
              <a:buNone/>
            </a:pPr>
            <a:r>
              <a:rPr lang="en-US" smtClean="0"/>
              <a:t>Priorities May Be Set Using setPriority() method:</a:t>
            </a:r>
          </a:p>
          <a:p>
            <a:pPr>
              <a:buFont typeface="Monotype Sorts" charset="2"/>
              <a:buNone/>
            </a:pPr>
            <a:r>
              <a:rPr lang="en-US" smtClean="0"/>
              <a:t>	setPriority(Thread.NORM_PRIORITY + 2);</a:t>
            </a:r>
          </a:p>
        </p:txBody>
      </p:sp>
    </p:spTree>
    <p:extLst>
      <p:ext uri="{BB962C8B-B14F-4D97-AF65-F5344CB8AC3E}">
        <p14:creationId xmlns:p14="http://schemas.microsoft.com/office/powerpoint/2010/main" val="3457627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r>
              <a:rPr lang="en-US" smtClean="0"/>
              <a:t>Solaris 2 Scheduling</a:t>
            </a:r>
          </a:p>
        </p:txBody>
      </p:sp>
      <p:pic>
        <p:nvPicPr>
          <p:cNvPr id="140291" name="Picture 5"/>
          <p:cNvPicPr>
            <a:picLocks noChangeAspect="1" noChangeArrowheads="1"/>
          </p:cNvPicPr>
          <p:nvPr/>
        </p:nvPicPr>
        <p:blipFill>
          <a:blip r:embed="rId3"/>
          <a:srcRect/>
          <a:stretch>
            <a:fillRect/>
          </a:stretch>
        </p:blipFill>
        <p:spPr bwMode="auto">
          <a:xfrm>
            <a:off x="3608388" y="1773238"/>
            <a:ext cx="6940550" cy="6245225"/>
          </a:xfrm>
          <a:prstGeom prst="rect">
            <a:avLst/>
          </a:prstGeom>
          <a:noFill/>
          <a:ln w="9525">
            <a:noFill/>
            <a:miter lim="800000"/>
            <a:headEnd/>
            <a:tailEnd/>
          </a:ln>
        </p:spPr>
      </p:pic>
    </p:spTree>
    <p:extLst>
      <p:ext uri="{BB962C8B-B14F-4D97-AF65-F5344CB8AC3E}">
        <p14:creationId xmlns:p14="http://schemas.microsoft.com/office/powerpoint/2010/main" val="874615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1604963" y="369888"/>
            <a:ext cx="11425237" cy="768350"/>
          </a:xfrm>
        </p:spPr>
        <p:txBody>
          <a:bodyPr/>
          <a:lstStyle/>
          <a:p>
            <a:pPr eaLnBrk="1" hangingPunct="1"/>
            <a:r>
              <a:rPr lang="tr-TR" dirty="0" smtClean="0"/>
              <a:t>Algoritma Değerlendirme</a:t>
            </a:r>
            <a:endParaRPr lang="en-US" dirty="0" smtClean="0"/>
          </a:p>
        </p:txBody>
      </p:sp>
      <p:sp>
        <p:nvSpPr>
          <p:cNvPr id="111619" name="Rectangle 3"/>
          <p:cNvSpPr>
            <a:spLocks noGrp="1" noChangeArrowheads="1"/>
          </p:cNvSpPr>
          <p:nvPr>
            <p:ph type="body" idx="1"/>
          </p:nvPr>
        </p:nvSpPr>
        <p:spPr>
          <a:xfrm>
            <a:off x="1241425" y="1843088"/>
            <a:ext cx="11349038" cy="6191250"/>
          </a:xfrm>
        </p:spPr>
        <p:txBody>
          <a:bodyPr/>
          <a:lstStyle/>
          <a:p>
            <a:r>
              <a:rPr lang="tr-TR" sz="2400" dirty="0" smtClean="0"/>
              <a:t>Bir işletim sistemi için CPU iş sıralama algoritması nasıl seçilir ? </a:t>
            </a:r>
            <a:endParaRPr lang="en-US" sz="2400" dirty="0" smtClean="0"/>
          </a:p>
          <a:p>
            <a:endParaRPr lang="en-US" sz="2400" dirty="0" smtClean="0"/>
          </a:p>
          <a:p>
            <a:r>
              <a:rPr lang="tr-TR" sz="2400" dirty="0" smtClean="0"/>
              <a:t>Kriterleri belirle ve daha sonra algoritmaları değerlendir  </a:t>
            </a:r>
            <a:endParaRPr lang="en-US" sz="2400" dirty="0" smtClean="0"/>
          </a:p>
          <a:p>
            <a:endParaRPr lang="en-US" sz="2400" dirty="0" smtClean="0"/>
          </a:p>
          <a:p>
            <a:r>
              <a:rPr lang="tr-TR" sz="2400" dirty="0" err="1" smtClean="0"/>
              <a:t>Deterministik</a:t>
            </a:r>
            <a:r>
              <a:rPr lang="tr-TR" sz="2400" dirty="0" smtClean="0"/>
              <a:t> modelleme</a:t>
            </a:r>
            <a:endParaRPr lang="en-US" sz="2400" dirty="0" smtClean="0"/>
          </a:p>
          <a:p>
            <a:pPr lvl="1"/>
            <a:r>
              <a:rPr lang="tr-TR" sz="2400" dirty="0" smtClean="0"/>
              <a:t>Bir tür analitik değerlendirme</a:t>
            </a:r>
            <a:endParaRPr lang="en-US" sz="2400" b="1" dirty="0" smtClean="0"/>
          </a:p>
          <a:p>
            <a:pPr lvl="1"/>
            <a:r>
              <a:rPr lang="tr-TR" sz="2400" dirty="0" smtClean="0"/>
              <a:t>Belirli bir iş yükünü alır ve o iş yükü için </a:t>
            </a:r>
            <a:r>
              <a:rPr lang="tr-TR" sz="2400" dirty="0" err="1" smtClean="0"/>
              <a:t>herbir</a:t>
            </a:r>
            <a:r>
              <a:rPr lang="tr-TR" sz="2400" dirty="0" smtClean="0"/>
              <a:t> algoritmanın performansını hesaplar  </a:t>
            </a:r>
            <a:endParaRPr lang="en-US" sz="2400" dirty="0" smtClean="0"/>
          </a:p>
          <a:p>
            <a:pPr>
              <a:buFont typeface="Monotype Sorts" charset="2"/>
              <a:buNone/>
            </a:pPr>
            <a:endParaRPr lang="en-US" sz="2400"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p:nvPr>
        </p:nvSpPr>
        <p:spPr/>
        <p:txBody>
          <a:bodyPr/>
          <a:lstStyle/>
          <a:p>
            <a:r>
              <a:rPr lang="tr-TR" dirty="0" smtClean="0"/>
              <a:t>Kuyruk Modelleri</a:t>
            </a:r>
            <a:endParaRPr lang="en-US" dirty="0" smtClean="0"/>
          </a:p>
        </p:txBody>
      </p:sp>
      <p:sp>
        <p:nvSpPr>
          <p:cNvPr id="113667" name="Content Placeholder 2"/>
          <p:cNvSpPr>
            <a:spLocks noGrp="1"/>
          </p:cNvSpPr>
          <p:nvPr>
            <p:ph idx="1"/>
          </p:nvPr>
        </p:nvSpPr>
        <p:spPr/>
        <p:txBody>
          <a:bodyPr/>
          <a:lstStyle/>
          <a:p>
            <a:r>
              <a:rPr lang="tr-TR" sz="2400" dirty="0" smtClean="0"/>
              <a:t>Proseslerin varışını, CPU ve I/O patlamalarını </a:t>
            </a:r>
            <a:r>
              <a:rPr lang="tr-TR" sz="2400" dirty="0" err="1" smtClean="0"/>
              <a:t>olasılıksal</a:t>
            </a:r>
            <a:r>
              <a:rPr lang="tr-TR" sz="2400" dirty="0" smtClean="0"/>
              <a:t> olarak tanımlar  </a:t>
            </a:r>
            <a:endParaRPr lang="en-US" sz="2400" dirty="0" smtClean="0"/>
          </a:p>
          <a:p>
            <a:pPr lvl="1"/>
            <a:r>
              <a:rPr lang="tr-TR" sz="2400" dirty="0" smtClean="0"/>
              <a:t>Genelde üstel ve ortalama ile tanımlanır  </a:t>
            </a:r>
            <a:endParaRPr lang="en-US" sz="2400" dirty="0" smtClean="0"/>
          </a:p>
          <a:p>
            <a:pPr lvl="1"/>
            <a:r>
              <a:rPr lang="tr-TR" sz="2400" dirty="0" smtClean="0"/>
              <a:t>Ortalama çıkış(</a:t>
            </a:r>
            <a:r>
              <a:rPr lang="en-US" sz="2400" dirty="0" smtClean="0"/>
              <a:t>throughput</a:t>
            </a:r>
            <a:r>
              <a:rPr lang="tr-TR" sz="2400" dirty="0" smtClean="0"/>
              <a:t>), kullanım oranı, bekleme zamanını hesaplar  </a:t>
            </a:r>
            <a:endParaRPr lang="en-US" sz="2400" dirty="0" smtClean="0"/>
          </a:p>
          <a:p>
            <a:r>
              <a:rPr lang="tr-TR" sz="2400" dirty="0" smtClean="0"/>
              <a:t>Bilgisayar sistemini </a:t>
            </a:r>
            <a:r>
              <a:rPr lang="tr-TR" sz="2400" dirty="0" err="1" smtClean="0"/>
              <a:t>herbiri</a:t>
            </a:r>
            <a:r>
              <a:rPr lang="tr-TR" sz="2400" dirty="0" smtClean="0"/>
              <a:t> bekleyen prosesler kuyruğuna sahip sunucular ağı olarak tanımlar  </a:t>
            </a:r>
            <a:endParaRPr lang="en-US" sz="2400" dirty="0" smtClean="0"/>
          </a:p>
          <a:p>
            <a:pPr lvl="1"/>
            <a:r>
              <a:rPr lang="tr-TR" sz="2400" dirty="0" smtClean="0"/>
              <a:t>Varış oranı ve hizmet oranı bilinir  </a:t>
            </a:r>
            <a:endParaRPr lang="en-US" sz="2400" dirty="0" smtClean="0"/>
          </a:p>
          <a:p>
            <a:pPr lvl="1"/>
            <a:r>
              <a:rPr lang="tr-TR" sz="2400" dirty="0" smtClean="0"/>
              <a:t>Kullanım oranını, ortalama kuyruk boyutunu ve ortalama bekleme zamanını hesaplar  </a:t>
            </a:r>
            <a:endParaRPr lang="en-US" sz="2400"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p:txBody>
          <a:bodyPr/>
          <a:lstStyle/>
          <a:p>
            <a:r>
              <a:rPr lang="en-US" dirty="0" smtClean="0"/>
              <a:t>Little</a:t>
            </a:r>
            <a:r>
              <a:rPr lang="tr-TR" dirty="0"/>
              <a:t> </a:t>
            </a:r>
            <a:r>
              <a:rPr lang="tr-TR" dirty="0" smtClean="0"/>
              <a:t>Formülü</a:t>
            </a:r>
            <a:endParaRPr lang="en-US" dirty="0" smtClean="0"/>
          </a:p>
        </p:txBody>
      </p:sp>
      <p:sp>
        <p:nvSpPr>
          <p:cNvPr id="114691" name="Content Placeholder 2"/>
          <p:cNvSpPr>
            <a:spLocks noGrp="1"/>
          </p:cNvSpPr>
          <p:nvPr>
            <p:ph idx="1"/>
          </p:nvPr>
        </p:nvSpPr>
        <p:spPr/>
        <p:txBody>
          <a:bodyPr/>
          <a:lstStyle/>
          <a:p>
            <a:r>
              <a:rPr lang="en-US" sz="2400" i="1" dirty="0" smtClean="0"/>
              <a:t>n</a:t>
            </a:r>
            <a:r>
              <a:rPr lang="en-US" sz="2400" dirty="0" smtClean="0"/>
              <a:t> = </a:t>
            </a:r>
            <a:r>
              <a:rPr lang="tr-TR" sz="2400" dirty="0" smtClean="0"/>
              <a:t>ortalama kuyruk boyutu</a:t>
            </a:r>
            <a:endParaRPr lang="en-US" sz="2400" dirty="0" smtClean="0"/>
          </a:p>
          <a:p>
            <a:r>
              <a:rPr lang="en-US" sz="2400" i="1" dirty="0" smtClean="0"/>
              <a:t>W</a:t>
            </a:r>
            <a:r>
              <a:rPr lang="en-US" sz="2400" dirty="0" smtClean="0"/>
              <a:t> = </a:t>
            </a:r>
            <a:r>
              <a:rPr lang="tr-TR" sz="2400" dirty="0" smtClean="0"/>
              <a:t>kuyruktaki ortalama bekleme zamanı  </a:t>
            </a:r>
            <a:endParaRPr lang="en-US" sz="2400" dirty="0" smtClean="0"/>
          </a:p>
          <a:p>
            <a:r>
              <a:rPr lang="en-US" sz="2400" i="1" dirty="0" smtClean="0"/>
              <a:t>λ</a:t>
            </a:r>
            <a:r>
              <a:rPr lang="en-US" sz="2400" dirty="0" smtClean="0"/>
              <a:t> = </a:t>
            </a:r>
            <a:r>
              <a:rPr lang="tr-TR" sz="2400" dirty="0" smtClean="0"/>
              <a:t>ortalama kuyruğa varış oranı  </a:t>
            </a:r>
            <a:endParaRPr lang="en-US" sz="2400" dirty="0" smtClean="0"/>
          </a:p>
          <a:p>
            <a:r>
              <a:rPr lang="en-US" sz="2400" dirty="0" smtClean="0"/>
              <a:t>Little’</a:t>
            </a:r>
            <a:r>
              <a:rPr lang="tr-TR" sz="2400" dirty="0" err="1" smtClean="0"/>
              <a:t>ın</a:t>
            </a:r>
            <a:r>
              <a:rPr lang="tr-TR" sz="2400" dirty="0" smtClean="0"/>
              <a:t> kuralı</a:t>
            </a:r>
            <a:r>
              <a:rPr lang="en-US" sz="2400" dirty="0" smtClean="0"/>
              <a:t> – </a:t>
            </a:r>
            <a:r>
              <a:rPr lang="tr-TR" sz="2400" dirty="0" smtClean="0"/>
              <a:t>kararlı durumda, kuyruğu terk eden prosesler kuyruğa varanlarla eşit olmalıdır, bu nedenle  </a:t>
            </a:r>
          </a:p>
          <a:p>
            <a:r>
              <a:rPr lang="en-US" sz="2400" dirty="0" smtClean="0"/>
              <a:t/>
            </a:r>
            <a:br>
              <a:rPr lang="en-US" sz="2400" dirty="0" smtClean="0"/>
            </a:br>
            <a:r>
              <a:rPr lang="en-US" sz="2400" i="1" dirty="0" smtClean="0"/>
              <a:t>n </a:t>
            </a:r>
            <a:r>
              <a:rPr lang="en-US" sz="2400" dirty="0" smtClean="0"/>
              <a:t>= </a:t>
            </a:r>
            <a:r>
              <a:rPr lang="en-US" sz="2400" i="1" dirty="0" smtClean="0"/>
              <a:t>λ </a:t>
            </a:r>
            <a:r>
              <a:rPr lang="en-US" sz="2400" dirty="0" smtClean="0"/>
              <a:t>x</a:t>
            </a:r>
            <a:r>
              <a:rPr lang="en-US" sz="2400" i="1" dirty="0" smtClean="0"/>
              <a:t> W</a:t>
            </a:r>
          </a:p>
          <a:p>
            <a:pPr lvl="1"/>
            <a:r>
              <a:rPr lang="tr-TR" sz="2400" dirty="0" smtClean="0"/>
              <a:t>Herhangi bir iş sıralama algoritması ve geliş dağılımı için geçerlidir  </a:t>
            </a:r>
            <a:endParaRPr lang="en-US" sz="2400" dirty="0" smtClean="0"/>
          </a:p>
          <a:p>
            <a:endParaRPr lang="en-US" sz="2400" dirty="0" smtClean="0"/>
          </a:p>
          <a:p>
            <a:r>
              <a:rPr lang="tr-TR" sz="2400" dirty="0" smtClean="0"/>
              <a:t>Mesela, eğer saniyede ortalama 7 proses varıyorsa ve normalde kuyrukta 14 proses varsa prosesler için ortalama bekleme zamanı </a:t>
            </a:r>
            <a:r>
              <a:rPr lang="en-US" sz="2400" dirty="0" smtClean="0"/>
              <a:t> = 2 </a:t>
            </a:r>
            <a:r>
              <a:rPr lang="tr-TR" sz="2400" dirty="0" smtClean="0"/>
              <a:t>saniye olur. </a:t>
            </a:r>
            <a:endParaRPr lang="en-US" sz="2400"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p:cNvSpPr>
            <a:spLocks noGrp="1"/>
          </p:cNvSpPr>
          <p:nvPr>
            <p:ph type="title"/>
          </p:nvPr>
        </p:nvSpPr>
        <p:spPr/>
        <p:txBody>
          <a:bodyPr/>
          <a:lstStyle/>
          <a:p>
            <a:r>
              <a:rPr lang="tr-TR" dirty="0" smtClean="0"/>
              <a:t>Simülasyonlar</a:t>
            </a:r>
            <a:endParaRPr lang="en-US" dirty="0" smtClean="0"/>
          </a:p>
        </p:txBody>
      </p:sp>
      <p:sp>
        <p:nvSpPr>
          <p:cNvPr id="115715" name="Content Placeholder 2"/>
          <p:cNvSpPr>
            <a:spLocks noGrp="1"/>
          </p:cNvSpPr>
          <p:nvPr>
            <p:ph idx="1"/>
          </p:nvPr>
        </p:nvSpPr>
        <p:spPr/>
        <p:txBody>
          <a:bodyPr/>
          <a:lstStyle/>
          <a:p>
            <a:r>
              <a:rPr lang="tr-TR" sz="2400" dirty="0" smtClean="0"/>
              <a:t>Kuyruk modelleri sınırlıdır  </a:t>
            </a:r>
            <a:endParaRPr lang="en-US" sz="2400" dirty="0" smtClean="0"/>
          </a:p>
          <a:p>
            <a:r>
              <a:rPr lang="tr-TR" sz="2400" b="1" dirty="0" smtClean="0"/>
              <a:t>Simülasyonlar </a:t>
            </a:r>
            <a:r>
              <a:rPr lang="tr-TR" sz="2400" dirty="0" smtClean="0"/>
              <a:t>daha doğru sonuç verir  </a:t>
            </a:r>
            <a:endParaRPr lang="en-US" sz="2400" dirty="0" smtClean="0"/>
          </a:p>
          <a:p>
            <a:pPr lvl="1"/>
            <a:r>
              <a:rPr lang="tr-TR" sz="2400" dirty="0" smtClean="0"/>
              <a:t>Bilgisayar sistemi modeli  </a:t>
            </a:r>
            <a:endParaRPr lang="en-US" sz="2400" dirty="0" smtClean="0"/>
          </a:p>
          <a:p>
            <a:pPr lvl="1"/>
            <a:r>
              <a:rPr lang="tr-TR" sz="2400" dirty="0" smtClean="0"/>
              <a:t>Saat değişkendir  </a:t>
            </a:r>
            <a:endParaRPr lang="en-US" sz="2400" dirty="0" smtClean="0"/>
          </a:p>
          <a:p>
            <a:pPr lvl="1"/>
            <a:r>
              <a:rPr lang="tr-TR" sz="2400" dirty="0" smtClean="0"/>
              <a:t>Algoritma performansını gösteren istatistikler üret  </a:t>
            </a:r>
            <a:endParaRPr lang="en-US" sz="2400" dirty="0" smtClean="0"/>
          </a:p>
          <a:p>
            <a:pPr lvl="1"/>
            <a:r>
              <a:rPr lang="tr-TR" sz="2400" dirty="0" smtClean="0"/>
              <a:t>Simülasyonu süren veri :</a:t>
            </a:r>
            <a:endParaRPr lang="en-US" sz="2400" dirty="0" smtClean="0"/>
          </a:p>
          <a:p>
            <a:pPr lvl="2"/>
            <a:r>
              <a:rPr lang="tr-TR" sz="2400" dirty="0" smtClean="0"/>
              <a:t>Rasgele sayı üreteci  </a:t>
            </a:r>
            <a:endParaRPr lang="en-US" sz="2400" dirty="0" smtClean="0"/>
          </a:p>
          <a:p>
            <a:pPr lvl="2"/>
            <a:r>
              <a:rPr lang="tr-TR" sz="2400" dirty="0" smtClean="0"/>
              <a:t>Matematiksel dağılımlar  </a:t>
            </a:r>
            <a:endParaRPr lang="en-US" sz="2400" dirty="0" smtClean="0"/>
          </a:p>
          <a:p>
            <a:pPr lvl="2"/>
            <a:r>
              <a:rPr lang="tr-TR" sz="2400" dirty="0" smtClean="0"/>
              <a:t>Gerçek sistemlerdeki gerçek olayların sırasını tutan kayıtlar  </a:t>
            </a:r>
            <a:endParaRPr lang="en-US" sz="2400" dirty="0" smtClean="0"/>
          </a:p>
          <a:p>
            <a:pPr lvl="2"/>
            <a:endParaRPr lang="en-US" sz="2400" dirty="0" smtClean="0"/>
          </a:p>
          <a:p>
            <a:pPr lvl="1"/>
            <a:endParaRPr lang="en-US" sz="2400"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950913" y="501294"/>
            <a:ext cx="12344400" cy="768350"/>
          </a:xfrm>
        </p:spPr>
        <p:txBody>
          <a:bodyPr/>
          <a:lstStyle/>
          <a:p>
            <a:pPr eaLnBrk="1" hangingPunct="1"/>
            <a:r>
              <a:rPr lang="tr-TR" sz="4000" dirty="0" smtClean="0"/>
              <a:t>CPU İş Sıralayıcıların Simülasyon ile Değerlendirilmesi  </a:t>
            </a:r>
            <a:endParaRPr lang="en-US" sz="4000" dirty="0" smtClean="0"/>
          </a:p>
        </p:txBody>
      </p:sp>
      <p:pic>
        <p:nvPicPr>
          <p:cNvPr id="116739" name="Picture 4" descr="5"/>
          <p:cNvPicPr>
            <a:picLocks noChangeAspect="1" noChangeArrowheads="1"/>
          </p:cNvPicPr>
          <p:nvPr/>
        </p:nvPicPr>
        <p:blipFill>
          <a:blip r:embed="rId3"/>
          <a:srcRect/>
          <a:stretch>
            <a:fillRect/>
          </a:stretch>
        </p:blipFill>
        <p:spPr bwMode="auto">
          <a:xfrm>
            <a:off x="950913" y="1535113"/>
            <a:ext cx="11498262" cy="6370637"/>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p:cNvSpPr>
          <p:nvPr>
            <p:ph type="title" idx="4294967295"/>
          </p:nvPr>
        </p:nvSpPr>
        <p:spPr>
          <a:xfrm>
            <a:off x="0" y="369888"/>
            <a:ext cx="12344400" cy="768350"/>
          </a:xfrm>
        </p:spPr>
        <p:txBody>
          <a:bodyPr/>
          <a:lstStyle/>
          <a:p>
            <a:r>
              <a:rPr lang="tr-TR" dirty="0" smtClean="0"/>
              <a:t>Uygulama</a:t>
            </a:r>
            <a:endParaRPr lang="en-US" dirty="0" smtClean="0"/>
          </a:p>
        </p:txBody>
      </p:sp>
      <p:sp>
        <p:nvSpPr>
          <p:cNvPr id="4" name="Content Placeholder 2"/>
          <p:cNvSpPr txBox="1">
            <a:spLocks/>
          </p:cNvSpPr>
          <p:nvPr/>
        </p:nvSpPr>
        <p:spPr bwMode="auto">
          <a:xfrm>
            <a:off x="1209675" y="1644650"/>
            <a:ext cx="12344400" cy="6040438"/>
          </a:xfrm>
          <a:prstGeom prst="rect">
            <a:avLst/>
          </a:prstGeom>
          <a:noFill/>
          <a:ln w="9525">
            <a:noFill/>
            <a:miter lim="800000"/>
            <a:headEnd/>
            <a:tailEnd/>
          </a:ln>
        </p:spPr>
        <p:txBody>
          <a:bodyPr lIns="130622" tIns="65311" rIns="130622" bIns="65311"/>
          <a:lstStyle/>
          <a:p>
            <a:pPr marL="488950" indent="-488950" defTabSz="1304925">
              <a:spcBef>
                <a:spcPct val="35000"/>
              </a:spcBef>
              <a:buClr>
                <a:srgbClr val="993300"/>
              </a:buClr>
              <a:buSzPct val="90000"/>
              <a:buFont typeface="Monotype Sorts" charset="2"/>
              <a:buChar char="n"/>
            </a:pPr>
            <a:r>
              <a:rPr kumimoji="1" lang="tr-TR" sz="2400" dirty="0" smtClean="0">
                <a:latin typeface="Helvetica" charset="0"/>
              </a:rPr>
              <a:t>Simülasyonlar da sınırlı doğruluğa sahiptir</a:t>
            </a:r>
            <a:endParaRPr kumimoji="1" lang="en-US" sz="2400" dirty="0">
              <a:latin typeface="Helvetica" charset="0"/>
            </a:endParaRPr>
          </a:p>
          <a:p>
            <a:pPr marL="488950" indent="-488950" defTabSz="1304925">
              <a:spcBef>
                <a:spcPct val="35000"/>
              </a:spcBef>
              <a:buClr>
                <a:srgbClr val="993300"/>
              </a:buClr>
              <a:buSzPct val="90000"/>
              <a:buFont typeface="Monotype Sorts" charset="2"/>
              <a:buChar char="n"/>
            </a:pPr>
            <a:r>
              <a:rPr kumimoji="1" lang="tr-TR" sz="2400" dirty="0" smtClean="0">
                <a:latin typeface="Helvetica" charset="0"/>
              </a:rPr>
              <a:t>Sadece yeni iş sıralayıcıyı uyarla ve gerçek sistemlerde test et  </a:t>
            </a:r>
            <a:endParaRPr kumimoji="1" lang="en-US" sz="2400" dirty="0">
              <a:latin typeface="Helvetica" charset="0"/>
            </a:endParaRPr>
          </a:p>
          <a:p>
            <a:pPr marL="1141413" lvl="1" indent="-488950" defTabSz="1304925">
              <a:spcBef>
                <a:spcPct val="35000"/>
              </a:spcBef>
              <a:buClr>
                <a:srgbClr val="993300"/>
              </a:buClr>
              <a:buSzPct val="90000"/>
              <a:buFont typeface="Monotype Sorts" charset="2"/>
              <a:buChar char="n"/>
            </a:pPr>
            <a:r>
              <a:rPr kumimoji="1" lang="tr-TR" sz="2400" dirty="0" smtClean="0">
                <a:latin typeface="Helvetica" charset="0"/>
              </a:rPr>
              <a:t>Yüksek maliyet, yüksek risk </a:t>
            </a:r>
            <a:endParaRPr kumimoji="1" lang="en-US" sz="2400" dirty="0">
              <a:latin typeface="Helvetica" charset="0"/>
            </a:endParaRPr>
          </a:p>
          <a:p>
            <a:pPr marL="1141413" lvl="1" indent="-488950" defTabSz="1304925">
              <a:spcBef>
                <a:spcPct val="35000"/>
              </a:spcBef>
              <a:buClr>
                <a:srgbClr val="993300"/>
              </a:buClr>
              <a:buSzPct val="90000"/>
              <a:buFont typeface="Monotype Sorts" charset="2"/>
              <a:buChar char="n"/>
            </a:pPr>
            <a:r>
              <a:rPr kumimoji="1" lang="tr-TR" sz="2400" dirty="0" smtClean="0">
                <a:latin typeface="Helvetica" charset="0"/>
              </a:rPr>
              <a:t>Çevre değişebilir  </a:t>
            </a:r>
            <a:endParaRPr kumimoji="1" lang="en-US" sz="2400" dirty="0">
              <a:latin typeface="Helvetica" charset="0"/>
            </a:endParaRPr>
          </a:p>
          <a:p>
            <a:pPr marL="488950" indent="-488950" defTabSz="1304925">
              <a:spcBef>
                <a:spcPct val="35000"/>
              </a:spcBef>
              <a:buClr>
                <a:srgbClr val="993300"/>
              </a:buClr>
              <a:buSzPct val="90000"/>
              <a:buFont typeface="Monotype Sorts" charset="2"/>
              <a:buChar char="n"/>
            </a:pPr>
            <a:r>
              <a:rPr kumimoji="1" lang="tr-TR" sz="2400" dirty="0" smtClean="0">
                <a:latin typeface="Helvetica" charset="0"/>
              </a:rPr>
              <a:t>Çok esnek iş sıralayıcılar mekana veya sisteme göre değiştirilebilir  </a:t>
            </a:r>
            <a:endParaRPr kumimoji="1" lang="en-US" sz="2400" dirty="0">
              <a:latin typeface="Helvetica" charset="0"/>
            </a:endParaRPr>
          </a:p>
          <a:p>
            <a:pPr marL="488950" indent="-488950" defTabSz="1304925">
              <a:spcBef>
                <a:spcPct val="35000"/>
              </a:spcBef>
              <a:buClr>
                <a:srgbClr val="993300"/>
              </a:buClr>
              <a:buSzPct val="90000"/>
              <a:buFont typeface="Monotype Sorts" charset="2"/>
              <a:buChar char="n"/>
            </a:pPr>
            <a:r>
              <a:rPr kumimoji="1" lang="tr-TR" sz="2400" dirty="0" smtClean="0">
                <a:latin typeface="Helvetica" charset="0"/>
              </a:rPr>
              <a:t>Veya </a:t>
            </a:r>
            <a:r>
              <a:rPr kumimoji="1" lang="en-US" sz="2400" dirty="0" smtClean="0">
                <a:latin typeface="Helvetica" charset="0"/>
              </a:rPr>
              <a:t> API</a:t>
            </a:r>
            <a:r>
              <a:rPr kumimoji="1" lang="tr-TR" sz="2400" dirty="0" smtClean="0">
                <a:latin typeface="Helvetica" charset="0"/>
              </a:rPr>
              <a:t>’</a:t>
            </a:r>
            <a:r>
              <a:rPr kumimoji="1" lang="tr-TR" sz="2400" dirty="0" err="1" smtClean="0">
                <a:latin typeface="Helvetica" charset="0"/>
              </a:rPr>
              <a:t>ler</a:t>
            </a:r>
            <a:r>
              <a:rPr kumimoji="1" lang="en-US" sz="2400" dirty="0" smtClean="0">
                <a:latin typeface="Helvetica" charset="0"/>
              </a:rPr>
              <a:t> </a:t>
            </a:r>
            <a:r>
              <a:rPr kumimoji="1" lang="tr-TR" sz="2400" dirty="0" smtClean="0">
                <a:latin typeface="Helvetica" charset="0"/>
              </a:rPr>
              <a:t>öncelikleri değiştirmek maksadıyla geliştirilebilir  </a:t>
            </a:r>
            <a:endParaRPr kumimoji="1" lang="en-US" sz="2400" dirty="0">
              <a:latin typeface="Helvetica" charset="0"/>
            </a:endParaRPr>
          </a:p>
          <a:p>
            <a:pPr marL="488950" indent="-488950" defTabSz="1304925">
              <a:spcBef>
                <a:spcPct val="35000"/>
              </a:spcBef>
              <a:buClr>
                <a:srgbClr val="993300"/>
              </a:buClr>
              <a:buSzPct val="90000"/>
              <a:buFont typeface="Monotype Sorts" charset="2"/>
              <a:buChar char="n"/>
            </a:pPr>
            <a:r>
              <a:rPr kumimoji="1" lang="tr-TR" sz="2400" dirty="0" smtClean="0">
                <a:latin typeface="Helvetica" charset="0"/>
              </a:rPr>
              <a:t>Ancak çevre değişkendir  </a:t>
            </a:r>
            <a:endParaRPr kumimoji="1" lang="en-US" sz="2400" dirty="0">
              <a:latin typeface="Helvetica" charset="0"/>
            </a:endParaRPr>
          </a:p>
          <a:p>
            <a:pPr marL="488950" indent="-488950" defTabSz="1304925">
              <a:spcBef>
                <a:spcPct val="35000"/>
              </a:spcBef>
              <a:buClr>
                <a:srgbClr val="993300"/>
              </a:buClr>
              <a:buSzPct val="90000"/>
              <a:buFont typeface="Monotype Sorts" charset="2"/>
              <a:buChar char="n"/>
            </a:pPr>
            <a:endParaRPr kumimoji="1" lang="en-US" sz="2400" dirty="0">
              <a:latin typeface="Helvetica" charset="0"/>
            </a:endParaRPr>
          </a:p>
          <a:p>
            <a:pPr marL="1550988" lvl="2" indent="-325438" defTabSz="1304925">
              <a:spcBef>
                <a:spcPct val="35000"/>
              </a:spcBef>
              <a:buClr>
                <a:srgbClr val="009900"/>
              </a:buClr>
              <a:buSzPct val="75000"/>
              <a:buFont typeface="Webdings" charset="2"/>
              <a:buChar char="4"/>
            </a:pPr>
            <a:endParaRPr kumimoji="1" lang="en-US" sz="2400" dirty="0">
              <a:latin typeface="Helvetica" charset="0"/>
            </a:endParaRPr>
          </a:p>
          <a:p>
            <a:pPr marL="1141413" lvl="1" indent="-488950" defTabSz="1304925">
              <a:spcBef>
                <a:spcPct val="35000"/>
              </a:spcBef>
              <a:buClr>
                <a:srgbClr val="CC6600"/>
              </a:buClr>
              <a:buSzPct val="80000"/>
              <a:buFont typeface="Monotype Sorts" charset="2"/>
              <a:buChar char="l"/>
            </a:pPr>
            <a:endParaRPr kumimoji="1" lang="en-US" sz="2400" dirty="0">
              <a:latin typeface="Helvetica"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ctrTitle"/>
          </p:nvPr>
        </p:nvSpPr>
        <p:spPr>
          <a:xfrm>
            <a:off x="1028700" y="914400"/>
            <a:ext cx="11658600" cy="2836863"/>
          </a:xfrm>
        </p:spPr>
        <p:txBody>
          <a:bodyPr/>
          <a:lstStyle/>
          <a:p>
            <a:pPr eaLnBrk="1" hangingPunct="1"/>
            <a:r>
              <a:rPr lang="en-US" dirty="0" smtClean="0"/>
              <a:t>5</a:t>
            </a:r>
            <a:r>
              <a:rPr lang="tr-TR" dirty="0" smtClean="0"/>
              <a:t>. </a:t>
            </a:r>
            <a:r>
              <a:rPr lang="tr-TR" smtClean="0"/>
              <a:t>Bölümün Sonu</a:t>
            </a:r>
            <a:endParaRPr lang="en-US" dirty="0" smtClean="0"/>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12072</TotalTime>
  <Words>1569</Words>
  <Application>Microsoft Office PowerPoint</Application>
  <PresentationFormat>Özel</PresentationFormat>
  <Paragraphs>282</Paragraphs>
  <Slides>41</Slides>
  <Notes>28</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41</vt:i4>
      </vt:variant>
    </vt:vector>
  </HeadingPairs>
  <TitlesOfParts>
    <vt:vector size="51" baseType="lpstr">
      <vt:lpstr>ＭＳ Ｐゴシック</vt:lpstr>
      <vt:lpstr>ＭＳ Ｐゴシック</vt:lpstr>
      <vt:lpstr>Arial</vt:lpstr>
      <vt:lpstr>Courier New</vt:lpstr>
      <vt:lpstr>Helvetica</vt:lpstr>
      <vt:lpstr>Monotype Sorts</vt:lpstr>
      <vt:lpstr>Times New Roman</vt:lpstr>
      <vt:lpstr>Verdana</vt:lpstr>
      <vt:lpstr>Webdings</vt:lpstr>
      <vt:lpstr>os-8</vt:lpstr>
      <vt:lpstr>5. Bölüm:  İş Sıralama  (CPU Scheduling)</vt:lpstr>
      <vt:lpstr>5. Bölüm:  İş Sıralama (CPU Zamanlama / Planlama / Çizelgeleme)</vt:lpstr>
      <vt:lpstr>Hedefler</vt:lpstr>
      <vt:lpstr>İş Parçacığı Sıralama</vt:lpstr>
      <vt:lpstr>Pthread İş Sıralama</vt:lpstr>
      <vt:lpstr>Pthread Sıralama API</vt:lpstr>
      <vt:lpstr>Pthread Sıralama API</vt:lpstr>
      <vt:lpstr>Çok İşlemcili İş Sıralama </vt:lpstr>
      <vt:lpstr>Çok İşlemcili Sıralama </vt:lpstr>
      <vt:lpstr>Çok Çekirdekli İşlemciler</vt:lpstr>
      <vt:lpstr>Çoklu İş Parçacıklı Çok Çekirdekli Sistem</vt:lpstr>
      <vt:lpstr>Çoklu İş Parçacıklı Çok Çekirdekli Sistem</vt:lpstr>
      <vt:lpstr>Çoklu İş Parçacıklı Çok Çekirdekli Sistem</vt:lpstr>
      <vt:lpstr>Multiple-Processor Scheduling – Load Balancing</vt:lpstr>
      <vt:lpstr>Multiple-Processor Scheduling – Processor Affinity</vt:lpstr>
      <vt:lpstr>NUMA ve CPU İş Sıralama </vt:lpstr>
      <vt:lpstr>Sanallaştırma ve İş Sıralama </vt:lpstr>
      <vt:lpstr>İşletim Sistemi Örnekleri  </vt:lpstr>
      <vt:lpstr>Solaris</vt:lpstr>
      <vt:lpstr>Solaris Görevlendirme Tablosu </vt:lpstr>
      <vt:lpstr>Solaris İş Sıralama</vt:lpstr>
      <vt:lpstr>Solaris İş Sıralama(devam)</vt:lpstr>
      <vt:lpstr>Windows İş Sıralama</vt:lpstr>
      <vt:lpstr>Windows Öncelik Sınıflar </vt:lpstr>
      <vt:lpstr>Windows XP Öncelikleri</vt:lpstr>
      <vt:lpstr>Linux İş Sıralama</vt:lpstr>
      <vt:lpstr>Linux İş Sıralama (devam)</vt:lpstr>
      <vt:lpstr>Öncelikler ve Zaman Süresi</vt:lpstr>
      <vt:lpstr>Önceliklere Göre Sıralanmış Görev Listesi  </vt:lpstr>
      <vt:lpstr>Java Thread Scheduling</vt:lpstr>
      <vt:lpstr>Java Thread Scheduling (Cont.)</vt:lpstr>
      <vt:lpstr>Time-Slicing</vt:lpstr>
      <vt:lpstr>Thread Priorities</vt:lpstr>
      <vt:lpstr>Solaris 2 Scheduling</vt:lpstr>
      <vt:lpstr>Algoritma Değerlendirme</vt:lpstr>
      <vt:lpstr>Kuyruk Modelleri</vt:lpstr>
      <vt:lpstr>Little Formülü</vt:lpstr>
      <vt:lpstr>Simülasyonlar</vt:lpstr>
      <vt:lpstr>CPU İş Sıralayıcıların Simülasyon ile Değerlendirilmesi  </vt:lpstr>
      <vt:lpstr>Uygulama</vt:lpstr>
      <vt:lpstr>5. Bölümün Sonu</vt:lpstr>
    </vt:vector>
  </TitlesOfParts>
  <Company>Lucent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CPU Scheduling</dc:title>
  <dc:creator>Marilyn Turnamian</dc:creator>
  <cp:lastModifiedBy>Windows User</cp:lastModifiedBy>
  <cp:revision>273</cp:revision>
  <cp:lastPrinted>2011-02-07T04:52:44Z</cp:lastPrinted>
  <dcterms:created xsi:type="dcterms:W3CDTF">2011-02-10T17:10:04Z</dcterms:created>
  <dcterms:modified xsi:type="dcterms:W3CDTF">2021-11-11T18:43:43Z</dcterms:modified>
</cp:coreProperties>
</file>